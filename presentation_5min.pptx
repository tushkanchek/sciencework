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 type="screen16x9"/>
  <p:notesSz cx="6858000" cy="9144000"/>
  <p:defaultTextStyle>
    <a:defPPr>
      <a:defRPr lang="ru-RU"/>
    </a:def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image_price_distribution.png"/><Relationship Id="rId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image_coefficients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_residuals.png"/><Relationship Id="rId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2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iversity"/>
          <p:cNvSpPr txBox="1"/>
          <p:nvPr/>
        </p:nvSpPr>
        <p:spPr>
          <a:xfrm>
            <a:off x="1005840" y="530352"/>
            <a:ext cx="10149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КАЗАНСКИЙ ФЕДЕРАЛЬНЫЙ УНИВЕРСИТЕТ</a:t>
            </a:r>
            <a:endParaRPr lang="ru-RU" sz="1500"/>
          </a:p>
        </p:txBody>
      </p:sp>
      <p:sp>
        <p:nvSpPr>
          <p:cNvPr id="3" name="Institute"/>
          <p:cNvSpPr txBox="1"/>
          <p:nvPr/>
        </p:nvSpPr>
        <p:spPr>
          <a:xfrm>
            <a:off x="1005840" y="859536"/>
            <a:ext cx="101498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0">
                <a:solidFill>
                  <a:srgbClr val="8FC4EA"/>
                </a:solidFill>
                <a:latin typeface="Arial"/>
                <a:ea typeface="Arial"/>
                <a:cs typeface="Arial"/>
              </a:rPr>
              <a:t xml:space="preserve">Институт математики и механики им. Н.И. Лобачевского</a:t>
            </a:r>
            <a:endParaRPr lang="ru-RU" sz="1200"/>
          </a:p>
        </p:txBody>
      </p:sp>
      <p:sp>
        <p:nvSpPr>
          <p:cNvPr id="4" name="Cover rule"/>
          <p:cNvSpPr/>
          <p:nvPr/>
        </p:nvSpPr>
        <p:spPr>
          <a:xfrm>
            <a:off x="1005840" y="1353312"/>
            <a:ext cx="9966960" cy="41148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Presentation title"/>
          <p:cNvSpPr txBox="1"/>
          <p:nvPr/>
        </p:nvSpPr>
        <p:spPr>
          <a:xfrm>
            <a:off x="1005840" y="1874520"/>
            <a:ext cx="1005840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Линейная регрессия для анализа факторов,</a:t>
            </a:r>
            <a:endParaRPr lang="ru-RU" sz="3200"/>
          </a:p>
          <a:p>
            <a:pPr algn="l"/>
            <a:r>
              <a:rPr lang="ru-RU"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связанных с ценой товара</a:t>
            </a:r>
            <a:endParaRPr lang="ru-RU" sz="3200"/>
          </a:p>
        </p:txBody>
      </p:sp>
      <p:sp>
        <p:nvSpPr>
          <p:cNvPr id="6" name="Research question"/>
          <p:cNvSpPr txBox="1"/>
          <p:nvPr/>
        </p:nvSpPr>
        <p:spPr>
          <a:xfrm>
            <a:off x="1024128" y="3520440"/>
            <a:ext cx="978408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900" b="0">
                <a:solidFill>
                  <a:srgbClr val="8FC4EA"/>
                </a:solidFill>
                <a:latin typeface="Arial"/>
                <a:ea typeface="Arial"/>
                <a:cs typeface="Arial"/>
              </a:rPr>
              <a:t xml:space="preserve">Сравнение трёх цен конкурентов отдельно</a:t>
            </a:r>
            <a:endParaRPr lang="ru-RU" sz="1900"/>
          </a:p>
          <a:p>
            <a:pPr algn="l"/>
            <a:r>
              <a:rPr lang="ru-RU" sz="1900" b="0">
                <a:solidFill>
                  <a:srgbClr val="8FC4EA"/>
                </a:solidFill>
                <a:latin typeface="Arial"/>
                <a:ea typeface="Arial"/>
                <a:cs typeface="Arial"/>
              </a:rPr>
              <a:t xml:space="preserve">и в одной множественной модели</a:t>
            </a:r>
            <a:endParaRPr lang="ru-RU" sz="1900"/>
          </a:p>
        </p:txBody>
      </p:sp>
      <p:sp>
        <p:nvSpPr>
          <p:cNvPr id="7" name="Author"/>
          <p:cNvSpPr txBox="1"/>
          <p:nvPr/>
        </p:nvSpPr>
        <p:spPr>
          <a:xfrm>
            <a:off x="1024128" y="5696712"/>
            <a:ext cx="987552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Максим Кибардин  ·  группа 05-308  ·  Казань, 2026</a:t>
            </a:r>
            <a:endParaRPr lang="ru-RU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iversity blue sidebar"/>
          <p:cNvSpPr/>
          <p:nvPr/>
        </p:nvSpPr>
        <p:spPr>
          <a:xfrm>
            <a:off x="0" y="0"/>
            <a:ext cx="786384" cy="6858000"/>
          </a:xfrm>
          <a:prstGeom prst="rect">
            <a:avLst/>
          </a:prstGeom>
          <a:solidFill>
            <a:srgbClr val="07528B"/>
          </a:solidFill>
          <a:ln>
            <a:noFill/>
          </a:ln>
        </p:spPr>
      </p:sp>
      <p:sp>
        <p:nvSpPr>
          <p:cNvPr id="3" name="KFU mark"/>
          <p:cNvSpPr txBox="1"/>
          <p:nvPr/>
        </p:nvSpPr>
        <p:spPr>
          <a:xfrm>
            <a:off x="73152" y="182880"/>
            <a:ext cx="6400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КФУ</a:t>
            </a:r>
            <a:endParaRPr lang="ru-RU" sz="1600"/>
          </a:p>
        </p:txBody>
      </p:sp>
      <p:sp>
        <p:nvSpPr>
          <p:cNvPr id="4" name="Sidebar separator"/>
          <p:cNvSpPr/>
          <p:nvPr/>
        </p:nvSpPr>
        <p:spPr>
          <a:xfrm>
            <a:off x="146304" y="713232"/>
            <a:ext cx="493776" cy="22860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Slide number"/>
          <p:cNvSpPr txBox="1"/>
          <p:nvPr/>
        </p:nvSpPr>
        <p:spPr>
          <a:xfrm>
            <a:off x="91440" y="6355080"/>
            <a:ext cx="5943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02</a:t>
            </a:r>
            <a:endParaRPr lang="ru-RU" sz="1100"/>
          </a:p>
        </p:txBody>
      </p:sp>
      <p:sp>
        <p:nvSpPr>
          <p:cNvPr id="6" name="Section"/>
          <p:cNvSpPr txBox="1"/>
          <p:nvPr/>
        </p:nvSpPr>
        <p:spPr>
          <a:xfrm>
            <a:off x="1143000" y="2011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000" b="1">
                <a:solidFill>
                  <a:srgbClr val="2878B8"/>
                </a:solidFill>
                <a:latin typeface="Arial"/>
                <a:ea typeface="Arial"/>
                <a:cs typeface="Arial"/>
              </a:rPr>
              <a:t xml:space="preserve">ДАННЫЕ</a:t>
            </a:r>
            <a:endParaRPr lang="ru-RU" sz="1000"/>
          </a:p>
        </p:txBody>
      </p:sp>
      <p:sp>
        <p:nvSpPr>
          <p:cNvPr id="7" name="Slide title"/>
          <p:cNvSpPr txBox="1"/>
          <p:nvPr/>
        </p:nvSpPr>
        <p:spPr>
          <a:xfrm>
            <a:off x="1143000" y="475488"/>
            <a:ext cx="10561320" cy="5212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500" b="1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Набор Retail Price</a:t>
            </a:r>
            <a:endParaRPr lang="ru-RU" sz="2500"/>
          </a:p>
        </p:txBody>
      </p:sp>
      <p:sp>
        <p:nvSpPr>
          <p:cNvPr id="8" name="Slide subtitle"/>
          <p:cNvSpPr txBox="1"/>
          <p:nvPr/>
        </p:nvSpPr>
        <p:spPr>
          <a:xfrm>
            <a:off x="1143000" y="950976"/>
            <a:ext cx="1056132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676 наблюдений по товарам за 2017–2018 годы</a:t>
            </a:r>
            <a:endParaRPr lang="ru-RU" sz="1200"/>
          </a:p>
        </p:txBody>
      </p:sp>
      <p:sp>
        <p:nvSpPr>
          <p:cNvPr id="9" name="Title rule"/>
          <p:cNvSpPr/>
          <p:nvPr/>
        </p:nvSpPr>
        <p:spPr>
          <a:xfrm>
            <a:off x="1143000" y="1271016"/>
            <a:ext cx="10561320" cy="32004"/>
          </a:xfrm>
          <a:prstGeom prst="rect">
            <a:avLst/>
          </a:prstGeom>
          <a:solidFill>
            <a:srgbClr val="2878B8"/>
          </a:solidFill>
          <a:ln>
            <a:noFill/>
          </a:ln>
        </p:spPr>
      </p:sp>
      <p:sp>
        <p:nvSpPr>
          <p:cNvPr id="10" name="Data card"/>
          <p:cNvSpPr/>
          <p:nvPr/>
        </p:nvSpPr>
        <p:spPr>
          <a:xfrm>
            <a:off x="1143000" y="1444752"/>
            <a:ext cx="2240280" cy="731520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11" name="Metric"/>
          <p:cNvSpPr txBox="1"/>
          <p:nvPr/>
        </p:nvSpPr>
        <p:spPr>
          <a:xfrm>
            <a:off x="1216152" y="1472184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21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676</a:t>
            </a:r>
            <a:endParaRPr lang="ru-RU" sz="2100"/>
          </a:p>
        </p:txBody>
      </p:sp>
      <p:sp>
        <p:nvSpPr>
          <p:cNvPr id="12" name="Metric label"/>
          <p:cNvSpPr txBox="1"/>
          <p:nvPr/>
        </p:nvSpPr>
        <p:spPr>
          <a:xfrm>
            <a:off x="1216152" y="1819656"/>
            <a:ext cx="2093976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05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наблюдений</a:t>
            </a:r>
            <a:endParaRPr lang="ru-RU" sz="1050"/>
          </a:p>
        </p:txBody>
      </p:sp>
      <p:sp>
        <p:nvSpPr>
          <p:cNvPr id="13" name="Data card"/>
          <p:cNvSpPr/>
          <p:nvPr/>
        </p:nvSpPr>
        <p:spPr>
          <a:xfrm>
            <a:off x="3547872" y="1444752"/>
            <a:ext cx="2240280" cy="731520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14" name="Metric"/>
          <p:cNvSpPr txBox="1"/>
          <p:nvPr/>
        </p:nvSpPr>
        <p:spPr>
          <a:xfrm>
            <a:off x="3621024" y="1472184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21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52</a:t>
            </a:r>
            <a:endParaRPr lang="ru-RU" sz="2100"/>
          </a:p>
        </p:txBody>
      </p:sp>
      <p:sp>
        <p:nvSpPr>
          <p:cNvPr id="15" name="Metric label"/>
          <p:cNvSpPr txBox="1"/>
          <p:nvPr/>
        </p:nvSpPr>
        <p:spPr>
          <a:xfrm>
            <a:off x="3621024" y="1819656"/>
            <a:ext cx="2093976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05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товара</a:t>
            </a:r>
            <a:endParaRPr lang="ru-RU" sz="1050"/>
          </a:p>
        </p:txBody>
      </p:sp>
      <p:sp>
        <p:nvSpPr>
          <p:cNvPr id="16" name="Data card"/>
          <p:cNvSpPr/>
          <p:nvPr/>
        </p:nvSpPr>
        <p:spPr>
          <a:xfrm>
            <a:off x="5952744" y="1444752"/>
            <a:ext cx="2331720" cy="731520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17" name="Metric"/>
          <p:cNvSpPr txBox="1"/>
          <p:nvPr/>
        </p:nvSpPr>
        <p:spPr>
          <a:xfrm>
            <a:off x="6025896" y="1472184"/>
            <a:ext cx="2185416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21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2017–2018</a:t>
            </a:r>
            <a:endParaRPr lang="ru-RU" sz="2100"/>
          </a:p>
        </p:txBody>
      </p:sp>
      <p:sp>
        <p:nvSpPr>
          <p:cNvPr id="18" name="Metric label"/>
          <p:cNvSpPr txBox="1"/>
          <p:nvPr/>
        </p:nvSpPr>
        <p:spPr>
          <a:xfrm>
            <a:off x="6025896" y="1819656"/>
            <a:ext cx="2185416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05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период данных</a:t>
            </a:r>
            <a:endParaRPr lang="ru-RU" sz="1050"/>
          </a:p>
        </p:txBody>
      </p:sp>
      <p:sp>
        <p:nvSpPr>
          <p:cNvPr id="19" name="Data card"/>
          <p:cNvSpPr/>
          <p:nvPr/>
        </p:nvSpPr>
        <p:spPr>
          <a:xfrm>
            <a:off x="8449056" y="1444752"/>
            <a:ext cx="3255264" cy="731520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20" name="Metric"/>
          <p:cNvSpPr txBox="1"/>
          <p:nvPr/>
        </p:nvSpPr>
        <p:spPr>
          <a:xfrm>
            <a:off x="8522208" y="1472184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21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1 423 / 808</a:t>
            </a:r>
            <a:endParaRPr lang="ru-RU" sz="2100"/>
          </a:p>
        </p:txBody>
      </p:sp>
      <p:sp>
        <p:nvSpPr>
          <p:cNvPr id="21" name="Metric label"/>
          <p:cNvSpPr txBox="1"/>
          <p:nvPr/>
        </p:nvSpPr>
        <p:spPr>
          <a:xfrm>
            <a:off x="8522208" y="1819656"/>
            <a:ext cx="310896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05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средняя / медиана общей цены</a:t>
            </a:r>
            <a:endParaRPr lang="ru-RU" sz="1050"/>
          </a:p>
        </p:txBody>
      </p:sp>
      <p:sp>
        <p:nvSpPr>
          <p:cNvPr id="22" name="Data variables"/>
          <p:cNvSpPr txBox="1"/>
          <p:nvPr/>
        </p:nvSpPr>
        <p:spPr>
          <a:xfrm>
            <a:off x="1207008" y="2267712"/>
            <a:ext cx="10378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4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Отклик — total_price; факторы — число покупателей, вес и цены трёх конкурентов.</a:t>
            </a:r>
            <a:endParaRPr lang="ru-RU" sz="1400"/>
          </a:p>
        </p:txBody>
      </p:sp>
      <p:pic>
        <p:nvPicPr>
          <p:cNvPr id="23" name="Price distribu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773" y="2615184"/>
            <a:ext cx="9237485" cy="3602736"/>
          </a:xfrm>
          <a:prstGeom prst="rect">
            <a:avLst/>
          </a:prstGeom>
        </p:spPr>
      </p:pic>
      <p:sp>
        <p:nvSpPr>
          <p:cNvPr id="24" name="Histogram caption"/>
          <p:cNvSpPr txBox="1"/>
          <p:nvPr/>
        </p:nvSpPr>
        <p:spPr>
          <a:xfrm>
            <a:off x="1353312" y="6254496"/>
            <a:ext cx="10012680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Логарифмирование сжимает длинный правый хвост общей цены.</a:t>
            </a:r>
            <a:endParaRPr lang="ru-RU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iversity blue sidebar"/>
          <p:cNvSpPr/>
          <p:nvPr/>
        </p:nvSpPr>
        <p:spPr>
          <a:xfrm>
            <a:off x="0" y="0"/>
            <a:ext cx="786384" cy="6858000"/>
          </a:xfrm>
          <a:prstGeom prst="rect">
            <a:avLst/>
          </a:prstGeom>
          <a:solidFill>
            <a:srgbClr val="07528B"/>
          </a:solidFill>
          <a:ln>
            <a:noFill/>
          </a:ln>
        </p:spPr>
      </p:sp>
      <p:sp>
        <p:nvSpPr>
          <p:cNvPr id="3" name="KFU mark"/>
          <p:cNvSpPr txBox="1"/>
          <p:nvPr/>
        </p:nvSpPr>
        <p:spPr>
          <a:xfrm>
            <a:off x="73152" y="182880"/>
            <a:ext cx="6400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КФУ</a:t>
            </a:r>
            <a:endParaRPr lang="ru-RU" sz="1600"/>
          </a:p>
        </p:txBody>
      </p:sp>
      <p:sp>
        <p:nvSpPr>
          <p:cNvPr id="4" name="Sidebar separator"/>
          <p:cNvSpPr/>
          <p:nvPr/>
        </p:nvSpPr>
        <p:spPr>
          <a:xfrm>
            <a:off x="146304" y="713232"/>
            <a:ext cx="493776" cy="22860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Slide number"/>
          <p:cNvSpPr txBox="1"/>
          <p:nvPr/>
        </p:nvSpPr>
        <p:spPr>
          <a:xfrm>
            <a:off x="91440" y="6355080"/>
            <a:ext cx="5943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03</a:t>
            </a:r>
            <a:endParaRPr lang="ru-RU" sz="1100"/>
          </a:p>
        </p:txBody>
      </p:sp>
      <p:sp>
        <p:nvSpPr>
          <p:cNvPr id="6" name="Section"/>
          <p:cNvSpPr txBox="1"/>
          <p:nvPr/>
        </p:nvSpPr>
        <p:spPr>
          <a:xfrm>
            <a:off x="1143000" y="2011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000" b="1">
                <a:solidFill>
                  <a:srgbClr val="2878B8"/>
                </a:solidFill>
                <a:latin typeface="Arial"/>
                <a:ea typeface="Arial"/>
                <a:cs typeface="Arial"/>
              </a:rPr>
              <a:t xml:space="preserve">МЕТОД</a:t>
            </a:r>
            <a:endParaRPr lang="ru-RU" sz="1000"/>
          </a:p>
        </p:txBody>
      </p:sp>
      <p:sp>
        <p:nvSpPr>
          <p:cNvPr id="7" name="Slide title"/>
          <p:cNvSpPr txBox="1"/>
          <p:nvPr/>
        </p:nvSpPr>
        <p:spPr>
          <a:xfrm>
            <a:off x="1143000" y="475488"/>
            <a:ext cx="10561320" cy="5212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500" b="1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Две постановки одного вопроса</a:t>
            </a:r>
            <a:endParaRPr lang="ru-RU" sz="2500"/>
          </a:p>
        </p:txBody>
      </p:sp>
      <p:sp>
        <p:nvSpPr>
          <p:cNvPr id="8" name="Slide subtitle"/>
          <p:cNvSpPr txBox="1"/>
          <p:nvPr/>
        </p:nvSpPr>
        <p:spPr>
          <a:xfrm>
            <a:off x="1143000" y="950976"/>
            <a:ext cx="1056132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Все модели оценены на одних и тех же 676 наблюдениях</a:t>
            </a:r>
            <a:endParaRPr lang="ru-RU" sz="1200"/>
          </a:p>
        </p:txBody>
      </p:sp>
      <p:sp>
        <p:nvSpPr>
          <p:cNvPr id="9" name="Title rule"/>
          <p:cNvSpPr/>
          <p:nvPr/>
        </p:nvSpPr>
        <p:spPr>
          <a:xfrm>
            <a:off x="1143000" y="1271016"/>
            <a:ext cx="10561320" cy="32004"/>
          </a:xfrm>
          <a:prstGeom prst="rect">
            <a:avLst/>
          </a:prstGeom>
          <a:solidFill>
            <a:srgbClr val="2878B8"/>
          </a:solidFill>
          <a:ln>
            <a:noFill/>
          </a:ln>
        </p:spPr>
      </p:sp>
      <p:sp>
        <p:nvSpPr>
          <p:cNvPr id="10" name="Separate models panel"/>
          <p:cNvSpPr/>
          <p:nvPr/>
        </p:nvSpPr>
        <p:spPr>
          <a:xfrm>
            <a:off x="1188720" y="1481328"/>
            <a:ext cx="5047488" cy="98755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11" name="Separate models heading"/>
          <p:cNvSpPr txBox="1"/>
          <p:nvPr/>
        </p:nvSpPr>
        <p:spPr>
          <a:xfrm>
            <a:off x="1344168" y="1572768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7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1. По одному конкуренту</a:t>
            </a:r>
            <a:endParaRPr lang="ru-RU" sz="1700"/>
          </a:p>
        </p:txBody>
      </p:sp>
      <p:sp>
        <p:nvSpPr>
          <p:cNvPr id="12" name="Separate models description"/>
          <p:cNvSpPr txBox="1"/>
          <p:nvPr/>
        </p:nvSpPr>
        <p:spPr>
          <a:xfrm>
            <a:off x="1344168" y="1911096"/>
            <a:ext cx="4736592" cy="43891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4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Три модели: покупатели + вес + цена одного comp_j.</a:t>
            </a:r>
            <a:endParaRPr lang="ru-RU" sz="1400"/>
          </a:p>
        </p:txBody>
      </p:sp>
      <p:sp>
        <p:nvSpPr>
          <p:cNvPr id="13" name="Multiple model panel"/>
          <p:cNvSpPr/>
          <p:nvPr/>
        </p:nvSpPr>
        <p:spPr>
          <a:xfrm>
            <a:off x="6455664" y="1481328"/>
            <a:ext cx="5212080" cy="98755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14" name="Multiple model heading"/>
          <p:cNvSpPr txBox="1"/>
          <p:nvPr/>
        </p:nvSpPr>
        <p:spPr>
          <a:xfrm>
            <a:off x="6611112" y="1572768"/>
            <a:ext cx="4882896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7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2. Все три цены вместе</a:t>
            </a:r>
            <a:endParaRPr lang="ru-RU" sz="1700"/>
          </a:p>
        </p:txBody>
      </p:sp>
      <p:sp>
        <p:nvSpPr>
          <p:cNvPr id="15" name="Multiple model description"/>
          <p:cNvSpPr txBox="1"/>
          <p:nvPr/>
        </p:nvSpPr>
        <p:spPr>
          <a:xfrm>
            <a:off x="6611112" y="1911096"/>
            <a:ext cx="4882896" cy="43891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4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Одна множественная модель со всеми конкурентами.</a:t>
            </a:r>
            <a:endParaRPr lang="ru-RU" sz="1400"/>
          </a:p>
        </p:txBody>
      </p:sp>
      <p:sp>
        <p:nvSpPr>
          <p:cNvPr id="16" name="Model formulas panel"/>
          <p:cNvSpPr/>
          <p:nvPr/>
        </p:nvSpPr>
        <p:spPr>
          <a:xfrm>
            <a:off x="1188720" y="2697480"/>
            <a:ext cx="10479024" cy="1005840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</p:sp>
      <p:sp>
        <p:nvSpPr>
          <p:cNvPr id="17" name="Model formulas"/>
          <p:cNvSpPr txBox="1"/>
          <p:nvPr/>
        </p:nvSpPr>
        <p:spPr>
          <a:xfrm>
            <a:off x="1371600" y="2779776"/>
            <a:ext cx="10104120" cy="81381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Отдельно: ln(total_price) ~ ln(customers) + ln(comp_j) + ln(weight)</a:t>
            </a:r>
            <a:endParaRPr lang="ru-RU" sz="1300"/>
          </a:p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Вместе: ln(total_price) ~ ln(customers) + ln(comp_1) + ln(comp_2) + ln(comp_3) + ln(weight)</a:t>
            </a:r>
            <a:endParaRPr lang="ru-RU" sz="1300"/>
          </a:p>
        </p:txBody>
      </p:sp>
      <p:sp>
        <p:nvSpPr>
          <p:cNvPr id="18" name="Method card"/>
          <p:cNvSpPr/>
          <p:nvPr/>
        </p:nvSpPr>
        <p:spPr>
          <a:xfrm>
            <a:off x="1188720" y="4041648"/>
            <a:ext cx="3310128" cy="135331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19" name="Method card heading"/>
          <p:cNvSpPr txBox="1"/>
          <p:nvPr/>
        </p:nvSpPr>
        <p:spPr>
          <a:xfrm>
            <a:off x="1307592" y="4133088"/>
            <a:ext cx="3072384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5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Сравнение</a:t>
            </a:r>
            <a:endParaRPr lang="ru-RU" sz="1500"/>
          </a:p>
        </p:txBody>
      </p:sp>
      <p:sp>
        <p:nvSpPr>
          <p:cNvPr id="20" name="Method card body"/>
          <p:cNvSpPr txBox="1"/>
          <p:nvPr/>
        </p:nvSpPr>
        <p:spPr>
          <a:xfrm>
            <a:off x="1307592" y="4498848"/>
            <a:ext cx="3072384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Для трёх отдельных моделей — скорректированный R².</a:t>
            </a:r>
            <a:endParaRPr lang="ru-RU" sz="1300"/>
          </a:p>
        </p:txBody>
      </p:sp>
      <p:sp>
        <p:nvSpPr>
          <p:cNvPr id="21" name="Method card"/>
          <p:cNvSpPr/>
          <p:nvPr/>
        </p:nvSpPr>
        <p:spPr>
          <a:xfrm>
            <a:off x="4773168" y="4041648"/>
            <a:ext cx="3310128" cy="135331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22" name="Method card heading"/>
          <p:cNvSpPr txBox="1"/>
          <p:nvPr/>
        </p:nvSpPr>
        <p:spPr>
          <a:xfrm>
            <a:off x="4892040" y="4133088"/>
            <a:ext cx="3072384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5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Коэффициенты</a:t>
            </a:r>
            <a:endParaRPr lang="ru-RU" sz="1500"/>
          </a:p>
        </p:txBody>
      </p:sp>
      <p:sp>
        <p:nvSpPr>
          <p:cNvPr id="23" name="Method card body"/>
          <p:cNvSpPr txBox="1"/>
          <p:nvPr/>
        </p:nvSpPr>
        <p:spPr>
          <a:xfrm>
            <a:off x="4892040" y="4498848"/>
            <a:ext cx="3072384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p-value и 95%-ные интервалы; ошибки сгруппированы по товару.</a:t>
            </a:r>
            <a:endParaRPr lang="ru-RU" sz="1300"/>
          </a:p>
        </p:txBody>
      </p:sp>
      <p:sp>
        <p:nvSpPr>
          <p:cNvPr id="24" name="Method card"/>
          <p:cNvSpPr/>
          <p:nvPr/>
        </p:nvSpPr>
        <p:spPr>
          <a:xfrm>
            <a:off x="8357616" y="4041648"/>
            <a:ext cx="3310128" cy="135331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25" name="Method card heading"/>
          <p:cNvSpPr txBox="1"/>
          <p:nvPr/>
        </p:nvSpPr>
        <p:spPr>
          <a:xfrm>
            <a:off x="8476488" y="4133088"/>
            <a:ext cx="3072384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5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Совместный тест</a:t>
            </a:r>
            <a:endParaRPr lang="ru-RU" sz="1500"/>
          </a:p>
        </p:txBody>
      </p:sp>
      <p:sp>
        <p:nvSpPr>
          <p:cNvPr id="26" name="Method card body"/>
          <p:cNvSpPr txBox="1"/>
          <p:nvPr/>
        </p:nvSpPr>
        <p:spPr>
          <a:xfrm>
            <a:off x="8476488" y="4498848"/>
            <a:ext cx="3072384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F-тест проверяет общий вклад трёх цен конкурентов.</a:t>
            </a:r>
            <a:endParaRPr lang="ru-RU" sz="1300"/>
          </a:p>
        </p:txBody>
      </p:sp>
      <p:sp>
        <p:nvSpPr>
          <p:cNvPr id="27" name="Cluster note"/>
          <p:cNvSpPr txBox="1"/>
          <p:nvPr/>
        </p:nvSpPr>
        <p:spPr>
          <a:xfrm>
            <a:off x="1298448" y="5669280"/>
            <a:ext cx="101041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3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Кластеризация по 52 товарам учитывает повторные наблюдения одного товара.</a:t>
            </a:r>
            <a:endParaRPr lang="ru-RU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iversity blue sidebar"/>
          <p:cNvSpPr/>
          <p:nvPr/>
        </p:nvSpPr>
        <p:spPr>
          <a:xfrm>
            <a:off x="0" y="0"/>
            <a:ext cx="786384" cy="6858000"/>
          </a:xfrm>
          <a:prstGeom prst="rect">
            <a:avLst/>
          </a:prstGeom>
          <a:solidFill>
            <a:srgbClr val="07528B"/>
          </a:solidFill>
          <a:ln>
            <a:noFill/>
          </a:ln>
        </p:spPr>
      </p:sp>
      <p:sp>
        <p:nvSpPr>
          <p:cNvPr id="3" name="KFU mark"/>
          <p:cNvSpPr txBox="1"/>
          <p:nvPr/>
        </p:nvSpPr>
        <p:spPr>
          <a:xfrm>
            <a:off x="73152" y="182880"/>
            <a:ext cx="6400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КФУ</a:t>
            </a:r>
            <a:endParaRPr lang="ru-RU" sz="1600"/>
          </a:p>
        </p:txBody>
      </p:sp>
      <p:sp>
        <p:nvSpPr>
          <p:cNvPr id="4" name="Sidebar separator"/>
          <p:cNvSpPr/>
          <p:nvPr/>
        </p:nvSpPr>
        <p:spPr>
          <a:xfrm>
            <a:off x="146304" y="713232"/>
            <a:ext cx="493776" cy="22860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Slide number"/>
          <p:cNvSpPr txBox="1"/>
          <p:nvPr/>
        </p:nvSpPr>
        <p:spPr>
          <a:xfrm>
            <a:off x="91440" y="6355080"/>
            <a:ext cx="5943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04</a:t>
            </a:r>
            <a:endParaRPr lang="ru-RU" sz="1100"/>
          </a:p>
        </p:txBody>
      </p:sp>
      <p:sp>
        <p:nvSpPr>
          <p:cNvPr id="6" name="Section"/>
          <p:cNvSpPr txBox="1"/>
          <p:nvPr/>
        </p:nvSpPr>
        <p:spPr>
          <a:xfrm>
            <a:off x="1143000" y="2011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000" b="1">
                <a:solidFill>
                  <a:srgbClr val="2878B8"/>
                </a:solidFill>
                <a:latin typeface="Arial"/>
                <a:ea typeface="Arial"/>
                <a:cs typeface="Arial"/>
              </a:rPr>
              <a:t xml:space="preserve">СРАВНЕНИЕ МОДЕЛЕЙ</a:t>
            </a:r>
            <a:endParaRPr lang="ru-RU" sz="1000"/>
          </a:p>
        </p:txBody>
      </p:sp>
      <p:sp>
        <p:nvSpPr>
          <p:cNvPr id="7" name="Slide title"/>
          <p:cNvSpPr txBox="1"/>
          <p:nvPr/>
        </p:nvSpPr>
        <p:spPr>
          <a:xfrm>
            <a:off x="1143000" y="475488"/>
            <a:ext cx="10561320" cy="5212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500" b="1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Каждый конкурент — сначала отдельно</a:t>
            </a:r>
            <a:endParaRPr lang="ru-RU" sz="2500"/>
          </a:p>
        </p:txBody>
      </p:sp>
      <p:sp>
        <p:nvSpPr>
          <p:cNvPr id="8" name="Slide subtitle"/>
          <p:cNvSpPr txBox="1"/>
          <p:nvPr/>
        </p:nvSpPr>
        <p:spPr>
          <a:xfrm>
            <a:off x="1143000" y="950976"/>
            <a:ext cx="1056132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В каждой модели также учтены число покупателей и вес товара</a:t>
            </a:r>
            <a:endParaRPr lang="ru-RU" sz="1200"/>
          </a:p>
        </p:txBody>
      </p:sp>
      <p:sp>
        <p:nvSpPr>
          <p:cNvPr id="9" name="Title rule"/>
          <p:cNvSpPr/>
          <p:nvPr/>
        </p:nvSpPr>
        <p:spPr>
          <a:xfrm>
            <a:off x="1143000" y="1271016"/>
            <a:ext cx="10561320" cy="32004"/>
          </a:xfrm>
          <a:prstGeom prst="rect">
            <a:avLst/>
          </a:prstGeom>
          <a:solidFill>
            <a:srgbClr val="2878B8"/>
          </a:solidFill>
          <a:ln>
            <a:noFill/>
          </a:ln>
        </p:spPr>
      </p:sp>
      <p:sp>
        <p:nvSpPr>
          <p:cNvPr id="10" name="Comparison table header"/>
          <p:cNvSpPr txBox="1"/>
          <p:nvPr/>
        </p:nvSpPr>
        <p:spPr>
          <a:xfrm>
            <a:off x="1143000" y="1627632"/>
            <a:ext cx="2331720" cy="612648"/>
          </a:xfrm>
          <a:prstGeom prst="roundRect">
            <a:avLst/>
          </a:prstGeom>
          <a:solidFill>
            <a:srgbClr val="07528B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Цена конкурента</a:t>
            </a:r>
            <a:endParaRPr lang="ru-RU" sz="1250"/>
          </a:p>
        </p:txBody>
      </p:sp>
      <p:sp>
        <p:nvSpPr>
          <p:cNvPr id="11" name="Comparison table header"/>
          <p:cNvSpPr txBox="1"/>
          <p:nvPr/>
        </p:nvSpPr>
        <p:spPr>
          <a:xfrm>
            <a:off x="3511296" y="1627632"/>
            <a:ext cx="1572768" cy="612648"/>
          </a:xfrm>
          <a:prstGeom prst="roundRect">
            <a:avLst/>
          </a:prstGeom>
          <a:solidFill>
            <a:srgbClr val="07528B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Коэффициент</a:t>
            </a:r>
            <a:endParaRPr lang="ru-RU" sz="1250"/>
          </a:p>
        </p:txBody>
      </p:sp>
      <p:sp>
        <p:nvSpPr>
          <p:cNvPr id="12" name="Comparison table header"/>
          <p:cNvSpPr txBox="1"/>
          <p:nvPr/>
        </p:nvSpPr>
        <p:spPr>
          <a:xfrm>
            <a:off x="5120640" y="1627632"/>
            <a:ext cx="1591056" cy="612648"/>
          </a:xfrm>
          <a:prstGeom prst="roundRect">
            <a:avLst/>
          </a:prstGeom>
          <a:solidFill>
            <a:srgbClr val="07528B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p-value</a:t>
            </a:r>
            <a:endParaRPr lang="ru-RU" sz="1250"/>
          </a:p>
        </p:txBody>
      </p:sp>
      <p:sp>
        <p:nvSpPr>
          <p:cNvPr id="13" name="Comparison table header"/>
          <p:cNvSpPr txBox="1"/>
          <p:nvPr/>
        </p:nvSpPr>
        <p:spPr>
          <a:xfrm>
            <a:off x="6748272" y="1627632"/>
            <a:ext cx="2779776" cy="612648"/>
          </a:xfrm>
          <a:prstGeom prst="roundRect">
            <a:avLst/>
          </a:prstGeom>
          <a:solidFill>
            <a:srgbClr val="07528B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95%-ный интервал</a:t>
            </a:r>
            <a:endParaRPr lang="ru-RU" sz="1250"/>
          </a:p>
        </p:txBody>
      </p:sp>
      <p:sp>
        <p:nvSpPr>
          <p:cNvPr id="14" name="Comparison table header"/>
          <p:cNvSpPr txBox="1"/>
          <p:nvPr/>
        </p:nvSpPr>
        <p:spPr>
          <a:xfrm>
            <a:off x="9564624" y="1627632"/>
            <a:ext cx="2103120" cy="612648"/>
          </a:xfrm>
          <a:prstGeom prst="roundRect">
            <a:avLst/>
          </a:prstGeom>
          <a:solidFill>
            <a:srgbClr val="07528B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Скорр. R²</a:t>
            </a:r>
            <a:endParaRPr lang="ru-RU" sz="1250"/>
          </a:p>
        </p:txBody>
      </p:sp>
      <p:sp>
        <p:nvSpPr>
          <p:cNvPr id="15" name="Comparison table cell"/>
          <p:cNvSpPr txBox="1"/>
          <p:nvPr/>
        </p:nvSpPr>
        <p:spPr>
          <a:xfrm>
            <a:off x="1143000" y="2286000"/>
            <a:ext cx="2331720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comp_1</a:t>
            </a:r>
            <a:endParaRPr lang="ru-RU" sz="1500"/>
          </a:p>
        </p:txBody>
      </p:sp>
      <p:sp>
        <p:nvSpPr>
          <p:cNvPr id="16" name="Comparison table cell"/>
          <p:cNvSpPr txBox="1"/>
          <p:nvPr/>
        </p:nvSpPr>
        <p:spPr>
          <a:xfrm>
            <a:off x="3511296" y="2286000"/>
            <a:ext cx="1572768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0,364</a:t>
            </a:r>
            <a:endParaRPr lang="ru-RU" sz="1500"/>
          </a:p>
        </p:txBody>
      </p:sp>
      <p:sp>
        <p:nvSpPr>
          <p:cNvPr id="17" name="Comparison table cell"/>
          <p:cNvSpPr txBox="1"/>
          <p:nvPr/>
        </p:nvSpPr>
        <p:spPr>
          <a:xfrm>
            <a:off x="5120640" y="2286000"/>
            <a:ext cx="1591056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0,0134</a:t>
            </a:r>
            <a:endParaRPr lang="ru-RU" sz="1500"/>
          </a:p>
        </p:txBody>
      </p:sp>
      <p:sp>
        <p:nvSpPr>
          <p:cNvPr id="18" name="Comparison table cell"/>
          <p:cNvSpPr txBox="1"/>
          <p:nvPr/>
        </p:nvSpPr>
        <p:spPr>
          <a:xfrm>
            <a:off x="6748272" y="2286000"/>
            <a:ext cx="2779776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[0,079; 0,649]</a:t>
            </a:r>
            <a:endParaRPr lang="ru-RU" sz="1500"/>
          </a:p>
        </p:txBody>
      </p:sp>
      <p:sp>
        <p:nvSpPr>
          <p:cNvPr id="19" name="Comparison table cell"/>
          <p:cNvSpPr txBox="1"/>
          <p:nvPr/>
        </p:nvSpPr>
        <p:spPr>
          <a:xfrm>
            <a:off x="9564624" y="2286000"/>
            <a:ext cx="2103120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0,236</a:t>
            </a:r>
            <a:endParaRPr lang="ru-RU" sz="1500"/>
          </a:p>
        </p:txBody>
      </p:sp>
      <p:sp>
        <p:nvSpPr>
          <p:cNvPr id="20" name="Comparison table cell"/>
          <p:cNvSpPr txBox="1"/>
          <p:nvPr/>
        </p:nvSpPr>
        <p:spPr>
          <a:xfrm>
            <a:off x="1143000" y="3054096"/>
            <a:ext cx="2331720" cy="65836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1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comp_2</a:t>
            </a:r>
            <a:endParaRPr lang="ru-RU" sz="1500"/>
          </a:p>
        </p:txBody>
      </p:sp>
      <p:sp>
        <p:nvSpPr>
          <p:cNvPr id="21" name="Comparison table cell"/>
          <p:cNvSpPr txBox="1"/>
          <p:nvPr/>
        </p:nvSpPr>
        <p:spPr>
          <a:xfrm>
            <a:off x="3511296" y="3054096"/>
            <a:ext cx="1572768" cy="65836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0,669</a:t>
            </a:r>
            <a:endParaRPr lang="ru-RU" sz="1500"/>
          </a:p>
        </p:txBody>
      </p:sp>
      <p:sp>
        <p:nvSpPr>
          <p:cNvPr id="22" name="Comparison table cell"/>
          <p:cNvSpPr txBox="1"/>
          <p:nvPr/>
        </p:nvSpPr>
        <p:spPr>
          <a:xfrm>
            <a:off x="5120640" y="3054096"/>
            <a:ext cx="1591056" cy="65836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0,000028</a:t>
            </a:r>
            <a:endParaRPr lang="ru-RU" sz="1500"/>
          </a:p>
        </p:txBody>
      </p:sp>
      <p:sp>
        <p:nvSpPr>
          <p:cNvPr id="23" name="Comparison table cell"/>
          <p:cNvSpPr txBox="1"/>
          <p:nvPr/>
        </p:nvSpPr>
        <p:spPr>
          <a:xfrm>
            <a:off x="6748272" y="3054096"/>
            <a:ext cx="2779776" cy="65836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[0,377; 0,961]</a:t>
            </a:r>
            <a:endParaRPr lang="ru-RU" sz="1500"/>
          </a:p>
        </p:txBody>
      </p:sp>
      <p:sp>
        <p:nvSpPr>
          <p:cNvPr id="24" name="Comparison table cell"/>
          <p:cNvSpPr txBox="1"/>
          <p:nvPr/>
        </p:nvSpPr>
        <p:spPr>
          <a:xfrm>
            <a:off x="9564624" y="3054096"/>
            <a:ext cx="2103120" cy="65836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0,286</a:t>
            </a:r>
            <a:endParaRPr lang="ru-RU" sz="1500"/>
          </a:p>
        </p:txBody>
      </p:sp>
      <p:sp>
        <p:nvSpPr>
          <p:cNvPr id="25" name="Comparison table cell"/>
          <p:cNvSpPr txBox="1"/>
          <p:nvPr/>
        </p:nvSpPr>
        <p:spPr>
          <a:xfrm>
            <a:off x="1143000" y="3822192"/>
            <a:ext cx="2331720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comp_3</a:t>
            </a:r>
            <a:endParaRPr lang="ru-RU" sz="1500"/>
          </a:p>
        </p:txBody>
      </p:sp>
      <p:sp>
        <p:nvSpPr>
          <p:cNvPr id="26" name="Comparison table cell"/>
          <p:cNvSpPr txBox="1"/>
          <p:nvPr/>
        </p:nvSpPr>
        <p:spPr>
          <a:xfrm>
            <a:off x="3511296" y="3822192"/>
            <a:ext cx="1572768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0,526</a:t>
            </a:r>
            <a:endParaRPr lang="ru-RU" sz="1500"/>
          </a:p>
        </p:txBody>
      </p:sp>
      <p:sp>
        <p:nvSpPr>
          <p:cNvPr id="27" name="Comparison table cell"/>
          <p:cNvSpPr txBox="1"/>
          <p:nvPr/>
        </p:nvSpPr>
        <p:spPr>
          <a:xfrm>
            <a:off x="5120640" y="3822192"/>
            <a:ext cx="1591056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0,00048</a:t>
            </a:r>
            <a:endParaRPr lang="ru-RU" sz="1500"/>
          </a:p>
        </p:txBody>
      </p:sp>
      <p:sp>
        <p:nvSpPr>
          <p:cNvPr id="28" name="Comparison table cell"/>
          <p:cNvSpPr txBox="1"/>
          <p:nvPr/>
        </p:nvSpPr>
        <p:spPr>
          <a:xfrm>
            <a:off x="6748272" y="3822192"/>
            <a:ext cx="2779776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[0,243; 0,809]</a:t>
            </a:r>
            <a:endParaRPr lang="ru-RU" sz="1500"/>
          </a:p>
        </p:txBody>
      </p:sp>
      <p:sp>
        <p:nvSpPr>
          <p:cNvPr id="29" name="Comparison table cell"/>
          <p:cNvSpPr txBox="1"/>
          <p:nvPr/>
        </p:nvSpPr>
        <p:spPr>
          <a:xfrm>
            <a:off x="9564624" y="3822192"/>
            <a:ext cx="2103120" cy="65836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5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0,254</a:t>
            </a:r>
            <a:endParaRPr lang="ru-RU" sz="1500"/>
          </a:p>
        </p:txBody>
      </p:sp>
      <p:sp>
        <p:nvSpPr>
          <p:cNvPr id="30" name="Comparison takeaway panel"/>
          <p:cNvSpPr/>
          <p:nvPr/>
        </p:nvSpPr>
        <p:spPr>
          <a:xfrm>
            <a:off x="1243584" y="4892040"/>
            <a:ext cx="10341864" cy="89611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</p:sp>
      <p:sp>
        <p:nvSpPr>
          <p:cNvPr id="31" name="Comparison takeaway"/>
          <p:cNvSpPr txBox="1"/>
          <p:nvPr/>
        </p:nvSpPr>
        <p:spPr>
          <a:xfrm>
            <a:off x="1435608" y="4992624"/>
            <a:ext cx="9948672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6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Во всех трёх моделях коэффициент положителен и значим на уровне 5%.</a:t>
            </a:r>
            <a:endParaRPr lang="ru-RU" sz="1600"/>
          </a:p>
          <a:p>
            <a:pPr algn="l"/>
            <a:r>
              <a:rPr lang="ru-RU" sz="16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Наибольший скорректированный R² — у модели с comp_2: 0,286.</a:t>
            </a:r>
            <a:endParaRPr lang="ru-RU" sz="1600"/>
          </a:p>
        </p:txBody>
      </p:sp>
      <p:sp>
        <p:nvSpPr>
          <p:cNvPr id="32" name="Comparison caveat"/>
          <p:cNvSpPr txBox="1"/>
          <p:nvPr/>
        </p:nvSpPr>
        <p:spPr>
          <a:xfrm>
            <a:off x="1371600" y="5980176"/>
            <a:ext cx="10040112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5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Это сравнение подгонки на данной выборке, а не проверка точности прогноза на новых данных.</a:t>
            </a:r>
            <a:endParaRPr lang="ru-RU" sz="11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iversity blue sidebar"/>
          <p:cNvSpPr/>
          <p:nvPr/>
        </p:nvSpPr>
        <p:spPr>
          <a:xfrm>
            <a:off x="0" y="0"/>
            <a:ext cx="786384" cy="6858000"/>
          </a:xfrm>
          <a:prstGeom prst="rect">
            <a:avLst/>
          </a:prstGeom>
          <a:solidFill>
            <a:srgbClr val="07528B"/>
          </a:solidFill>
          <a:ln>
            <a:noFill/>
          </a:ln>
        </p:spPr>
      </p:sp>
      <p:sp>
        <p:nvSpPr>
          <p:cNvPr id="3" name="KFU mark"/>
          <p:cNvSpPr txBox="1"/>
          <p:nvPr/>
        </p:nvSpPr>
        <p:spPr>
          <a:xfrm>
            <a:off x="73152" y="182880"/>
            <a:ext cx="6400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КФУ</a:t>
            </a:r>
            <a:endParaRPr lang="ru-RU" sz="1600"/>
          </a:p>
        </p:txBody>
      </p:sp>
      <p:sp>
        <p:nvSpPr>
          <p:cNvPr id="4" name="Sidebar separator"/>
          <p:cNvSpPr/>
          <p:nvPr/>
        </p:nvSpPr>
        <p:spPr>
          <a:xfrm>
            <a:off x="146304" y="713232"/>
            <a:ext cx="493776" cy="22860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Slide number"/>
          <p:cNvSpPr txBox="1"/>
          <p:nvPr/>
        </p:nvSpPr>
        <p:spPr>
          <a:xfrm>
            <a:off x="91440" y="6355080"/>
            <a:ext cx="5943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05</a:t>
            </a:r>
            <a:endParaRPr lang="ru-RU" sz="1100"/>
          </a:p>
        </p:txBody>
      </p:sp>
      <p:sp>
        <p:nvSpPr>
          <p:cNvPr id="6" name="Section"/>
          <p:cNvSpPr txBox="1"/>
          <p:nvPr/>
        </p:nvSpPr>
        <p:spPr>
          <a:xfrm>
            <a:off x="1143000" y="2011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000" b="1">
                <a:solidFill>
                  <a:srgbClr val="2878B8"/>
                </a:solidFill>
                <a:latin typeface="Arial"/>
                <a:ea typeface="Arial"/>
                <a:cs typeface="Arial"/>
              </a:rPr>
              <a:t xml:space="preserve">МНОЖЕСТВЕННАЯ РЕГРЕССИЯ</a:t>
            </a:r>
            <a:endParaRPr lang="ru-RU" sz="1000"/>
          </a:p>
        </p:txBody>
      </p:sp>
      <p:sp>
        <p:nvSpPr>
          <p:cNvPr id="7" name="Slide title"/>
          <p:cNvSpPr txBox="1"/>
          <p:nvPr/>
        </p:nvSpPr>
        <p:spPr>
          <a:xfrm>
            <a:off x="1143000" y="475488"/>
            <a:ext cx="10561320" cy="5212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500" b="1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Все три цены конкурентов — вместе</a:t>
            </a:r>
            <a:endParaRPr lang="ru-RU" sz="2500"/>
          </a:p>
        </p:txBody>
      </p:sp>
      <p:sp>
        <p:nvSpPr>
          <p:cNvPr id="8" name="Slide subtitle"/>
          <p:cNvSpPr txBox="1"/>
          <p:nvPr/>
        </p:nvSpPr>
        <p:spPr>
          <a:xfrm>
            <a:off x="1143000" y="950976"/>
            <a:ext cx="1056132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Каждый коэффициент показывает условную связь при фиксированных остальных факторах</a:t>
            </a:r>
            <a:endParaRPr lang="ru-RU" sz="1200"/>
          </a:p>
        </p:txBody>
      </p:sp>
      <p:sp>
        <p:nvSpPr>
          <p:cNvPr id="9" name="Title rule"/>
          <p:cNvSpPr/>
          <p:nvPr/>
        </p:nvSpPr>
        <p:spPr>
          <a:xfrm>
            <a:off x="1143000" y="1271016"/>
            <a:ext cx="10561320" cy="32004"/>
          </a:xfrm>
          <a:prstGeom prst="rect">
            <a:avLst/>
          </a:prstGeom>
          <a:solidFill>
            <a:srgbClr val="2878B8"/>
          </a:solidFill>
          <a:ln>
            <a:noFill/>
          </a:ln>
        </p:spPr>
      </p:sp>
      <p:pic>
        <p:nvPicPr>
          <p:cNvPr id="10" name="Multiple regression coefficien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1422319"/>
            <a:ext cx="6510528" cy="4397410"/>
          </a:xfrm>
          <a:prstGeom prst="rect">
            <a:avLst/>
          </a:prstGeom>
        </p:spPr>
      </p:pic>
      <p:sp>
        <p:nvSpPr>
          <p:cNvPr id="11" name="Significance heading"/>
          <p:cNvSpPr txBox="1"/>
          <p:nvPr/>
        </p:nvSpPr>
        <p:spPr>
          <a:xfrm>
            <a:off x="7735824" y="1417320"/>
            <a:ext cx="3840480" cy="384048"/>
          </a:xfrm>
          <a:prstGeom prst="roundRect">
            <a:avLst/>
          </a:prstGeom>
          <a:solidFill>
            <a:srgbClr val="07528B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Индивидуально значимы</a:t>
            </a:r>
            <a:endParaRPr lang="ru-RU" sz="1600"/>
          </a:p>
        </p:txBody>
      </p:sp>
      <p:sp>
        <p:nvSpPr>
          <p:cNvPr id="12" name="Significant coefficients"/>
          <p:cNvSpPr txBox="1"/>
          <p:nvPr/>
        </p:nvSpPr>
        <p:spPr>
          <a:xfrm>
            <a:off x="7735824" y="1847088"/>
            <a:ext cx="3840480" cy="102412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4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Покупатели: β=0,543; p&lt;0,001</a:t>
            </a:r>
            <a:endParaRPr lang="ru-RU" sz="1400"/>
          </a:p>
          <a:p>
            <a:pPr algn="l"/>
            <a:r>
              <a:rPr lang="ru-RU" sz="14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comp_2: β=0,532; p=0,011</a:t>
            </a:r>
            <a:endParaRPr lang="ru-RU" sz="1400"/>
          </a:p>
          <a:p>
            <a:pPr algn="l"/>
            <a:r>
              <a:rPr lang="ru-RU" sz="14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Вес: β=0,135; p=0,037</a:t>
            </a:r>
            <a:endParaRPr lang="ru-RU" sz="1400"/>
          </a:p>
        </p:txBody>
      </p:sp>
      <p:sp>
        <p:nvSpPr>
          <p:cNvPr id="13" name="Not individually significant"/>
          <p:cNvSpPr txBox="1"/>
          <p:nvPr/>
        </p:nvSpPr>
        <p:spPr>
          <a:xfrm>
            <a:off x="7735824" y="2990088"/>
            <a:ext cx="3840480" cy="768096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comp_1 (p=0,802) и comp_3 (p=0,253): индивидуальная связь не подтверждена.</a:t>
            </a:r>
            <a:endParaRPr lang="ru-RU" sz="1300"/>
          </a:p>
        </p:txBody>
      </p:sp>
      <p:sp>
        <p:nvSpPr>
          <p:cNvPr id="14" name="Joint competitor test"/>
          <p:cNvSpPr txBox="1"/>
          <p:nvPr/>
        </p:nvSpPr>
        <p:spPr>
          <a:xfrm>
            <a:off x="7735824" y="3858768"/>
            <a:ext cx="3840480" cy="786384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4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Три цены конкурентов совместно:</a:t>
            </a:r>
            <a:endParaRPr lang="ru-RU" sz="1400"/>
          </a:p>
          <a:p>
            <a:pPr algn="l"/>
            <a:r>
              <a:rPr lang="ru-RU" sz="14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F(3, 51)=10,58; p&lt;0,001</a:t>
            </a:r>
            <a:endParaRPr lang="ru-RU" sz="1400"/>
          </a:p>
        </p:txBody>
      </p:sp>
      <p:sp>
        <p:nvSpPr>
          <p:cNvPr id="15" name="Overall model test"/>
          <p:cNvSpPr txBox="1"/>
          <p:nvPr/>
        </p:nvSpPr>
        <p:spPr>
          <a:xfrm>
            <a:off x="7735824" y="4745736"/>
            <a:ext cx="3840480" cy="896112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Вся модель: F(5, 51)=28,73; p&lt;0,001</a:t>
            </a:r>
            <a:endParaRPr lang="ru-RU" sz="1300"/>
          </a:p>
          <a:p>
            <a:pPr algn="l"/>
            <a:r>
              <a:rPr lang="ru-RU" sz="130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R²=0,298; скорректированный R²=0,293</a:t>
            </a:r>
            <a:endParaRPr lang="ru-RU" sz="1300"/>
          </a:p>
        </p:txBody>
      </p:sp>
      <p:sp>
        <p:nvSpPr>
          <p:cNvPr id="16" name="Coefficient plot caption"/>
          <p:cNvSpPr txBox="1"/>
          <p:nvPr/>
        </p:nvSpPr>
        <p:spPr>
          <a:xfrm>
            <a:off x="1280160" y="5925312"/>
            <a:ext cx="6309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Точки — оценки; линии — кластерные 95%-ные доверительные интервалы.</a:t>
            </a:r>
            <a:endParaRPr lang="ru-RU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iversity blue sidebar"/>
          <p:cNvSpPr/>
          <p:nvPr/>
        </p:nvSpPr>
        <p:spPr>
          <a:xfrm>
            <a:off x="0" y="0"/>
            <a:ext cx="786384" cy="6858000"/>
          </a:xfrm>
          <a:prstGeom prst="rect">
            <a:avLst/>
          </a:prstGeom>
          <a:solidFill>
            <a:srgbClr val="07528B"/>
          </a:solidFill>
          <a:ln>
            <a:noFill/>
          </a:ln>
        </p:spPr>
      </p:sp>
      <p:sp>
        <p:nvSpPr>
          <p:cNvPr id="3" name="KFU mark"/>
          <p:cNvSpPr txBox="1"/>
          <p:nvPr/>
        </p:nvSpPr>
        <p:spPr>
          <a:xfrm>
            <a:off x="73152" y="182880"/>
            <a:ext cx="6400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КФУ</a:t>
            </a:r>
            <a:endParaRPr lang="ru-RU" sz="1600"/>
          </a:p>
        </p:txBody>
      </p:sp>
      <p:sp>
        <p:nvSpPr>
          <p:cNvPr id="4" name="Sidebar separator"/>
          <p:cNvSpPr/>
          <p:nvPr/>
        </p:nvSpPr>
        <p:spPr>
          <a:xfrm>
            <a:off x="146304" y="713232"/>
            <a:ext cx="493776" cy="22860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Slide number"/>
          <p:cNvSpPr txBox="1"/>
          <p:nvPr/>
        </p:nvSpPr>
        <p:spPr>
          <a:xfrm>
            <a:off x="91440" y="6355080"/>
            <a:ext cx="5943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06</a:t>
            </a:r>
            <a:endParaRPr lang="ru-RU" sz="1100"/>
          </a:p>
        </p:txBody>
      </p:sp>
      <p:sp>
        <p:nvSpPr>
          <p:cNvPr id="6" name="Section"/>
          <p:cNvSpPr txBox="1"/>
          <p:nvPr/>
        </p:nvSpPr>
        <p:spPr>
          <a:xfrm>
            <a:off x="1143000" y="2011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000" b="1">
                <a:solidFill>
                  <a:srgbClr val="2878B8"/>
                </a:solidFill>
                <a:latin typeface="Arial"/>
                <a:ea typeface="Arial"/>
                <a:cs typeface="Arial"/>
              </a:rPr>
              <a:t xml:space="preserve">ИНТЕРПРЕТАЦИЯ</a:t>
            </a:r>
            <a:endParaRPr lang="ru-RU" sz="1000"/>
          </a:p>
        </p:txBody>
      </p:sp>
      <p:sp>
        <p:nvSpPr>
          <p:cNvPr id="7" name="Slide title"/>
          <p:cNvSpPr txBox="1"/>
          <p:nvPr/>
        </p:nvSpPr>
        <p:spPr>
          <a:xfrm>
            <a:off x="1143000" y="475488"/>
            <a:ext cx="10561320" cy="52120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500" b="1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Что можно заключить — и где границы</a:t>
            </a:r>
            <a:endParaRPr lang="ru-RU" sz="2500"/>
          </a:p>
        </p:txBody>
      </p:sp>
      <p:sp>
        <p:nvSpPr>
          <p:cNvPr id="8" name="Slide subtitle"/>
          <p:cNvSpPr txBox="1"/>
          <p:nvPr/>
        </p:nvSpPr>
        <p:spPr>
          <a:xfrm>
            <a:off x="1143000" y="950976"/>
            <a:ext cx="1056132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Оценки описывают связи в данных, а не причинное влияние</a:t>
            </a:r>
            <a:endParaRPr lang="ru-RU" sz="1200"/>
          </a:p>
        </p:txBody>
      </p:sp>
      <p:sp>
        <p:nvSpPr>
          <p:cNvPr id="9" name="Title rule"/>
          <p:cNvSpPr/>
          <p:nvPr/>
        </p:nvSpPr>
        <p:spPr>
          <a:xfrm>
            <a:off x="1143000" y="1271016"/>
            <a:ext cx="10561320" cy="32004"/>
          </a:xfrm>
          <a:prstGeom prst="rect">
            <a:avLst/>
          </a:prstGeom>
          <a:solidFill>
            <a:srgbClr val="2878B8"/>
          </a:solidFill>
          <a:ln>
            <a:noFill/>
          </a:ln>
        </p:spPr>
      </p:sp>
      <p:pic>
        <p:nvPicPr>
          <p:cNvPr id="10" name="Residual pl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467931"/>
            <a:ext cx="6291072" cy="3794123"/>
          </a:xfrm>
          <a:prstGeom prst="rect">
            <a:avLst/>
          </a:prstGeom>
        </p:spPr>
      </p:pic>
      <p:sp>
        <p:nvSpPr>
          <p:cNvPr id="11" name="Residual plot caption"/>
          <p:cNvSpPr txBox="1"/>
          <p:nvPr/>
        </p:nvSpPr>
        <p:spPr>
          <a:xfrm>
            <a:off x="1234440" y="5321808"/>
            <a:ext cx="5925312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ctr"/>
            <a:r>
              <a:rPr lang="ru-RU" sz="1150" b="0">
                <a:solidFill>
                  <a:srgbClr val="526575"/>
                </a:solidFill>
                <a:latin typeface="Arial"/>
                <a:ea typeface="Arial"/>
                <a:cs typeface="Arial"/>
              </a:rPr>
              <a:t xml:space="preserve">Разброс остатков неодинаков; график служит визуальной диагностикой, а не формальным тестом.</a:t>
            </a:r>
            <a:endParaRPr lang="ru-RU" sz="1150"/>
          </a:p>
        </p:txBody>
      </p:sp>
      <p:sp>
        <p:nvSpPr>
          <p:cNvPr id="12" name="Limitations heading"/>
          <p:cNvSpPr txBox="1"/>
          <p:nvPr/>
        </p:nvSpPr>
        <p:spPr>
          <a:xfrm>
            <a:off x="7534656" y="1444752"/>
            <a:ext cx="409651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70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Ограничения</a:t>
            </a:r>
            <a:endParaRPr lang="ru-RU" sz="1700"/>
          </a:p>
        </p:txBody>
      </p:sp>
      <p:sp>
        <p:nvSpPr>
          <p:cNvPr id="13" name="Limitation"/>
          <p:cNvSpPr txBox="1"/>
          <p:nvPr/>
        </p:nvSpPr>
        <p:spPr>
          <a:xfrm>
            <a:off x="7534656" y="1938528"/>
            <a:ext cx="4096512" cy="56692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5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• Данные наблюдательные: причинность не устанавливается.</a:t>
            </a:r>
            <a:endParaRPr lang="ru-RU" sz="1250"/>
          </a:p>
        </p:txBody>
      </p:sp>
      <p:sp>
        <p:nvSpPr>
          <p:cNvPr id="14" name="Limitation"/>
          <p:cNvSpPr txBox="1"/>
          <p:nvPr/>
        </p:nvSpPr>
        <p:spPr>
          <a:xfrm>
            <a:off x="7534656" y="2596896"/>
            <a:ext cx="4096512" cy="56692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5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• В выборке 52 товара за 2017–2018 годы.</a:t>
            </a:r>
            <a:endParaRPr lang="ru-RU" sz="1250"/>
          </a:p>
        </p:txBody>
      </p:sp>
      <p:sp>
        <p:nvSpPr>
          <p:cNvPr id="15" name="Limitation"/>
          <p:cNvSpPr txBox="1"/>
          <p:nvPr/>
        </p:nvSpPr>
        <p:spPr>
          <a:xfrm>
            <a:off x="7534656" y="3255264"/>
            <a:ext cx="4096512" cy="566928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5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• Не учтены сезонность, категория и часть характеристик.</a:t>
            </a:r>
            <a:endParaRPr lang="ru-RU" sz="1250"/>
          </a:p>
        </p:txBody>
      </p:sp>
      <p:sp>
        <p:nvSpPr>
          <p:cNvPr id="16" name="Limitation"/>
          <p:cNvSpPr txBox="1"/>
          <p:nvPr/>
        </p:nvSpPr>
        <p:spPr>
          <a:xfrm>
            <a:off x="7534656" y="3913632"/>
            <a:ext cx="4096512" cy="566928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50" b="0">
                <a:solidFill>
                  <a:srgbClr val="17232E"/>
                </a:solidFill>
                <a:latin typeface="Arial"/>
                <a:ea typeface="Arial"/>
                <a:cs typeface="Arial"/>
              </a:rPr>
              <a:t xml:space="preserve">• Нет проверки на новых наблюдениях.</a:t>
            </a:r>
            <a:endParaRPr lang="ru-RU" sz="1250"/>
          </a:p>
        </p:txBody>
      </p:sp>
      <p:sp>
        <p:nvSpPr>
          <p:cNvPr id="17" name="Ten percent interpretation"/>
          <p:cNvSpPr txBox="1"/>
          <p:nvPr/>
        </p:nvSpPr>
        <p:spPr>
          <a:xfrm>
            <a:off x="7534656" y="4754880"/>
            <a:ext cx="4096512" cy="1078992"/>
          </a:xfrm>
          <a:prstGeom prst="roundRect">
            <a:avLst/>
          </a:prstGeom>
          <a:solidFill>
            <a:srgbClr val="E8F2FA"/>
          </a:solidFill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50" b="1">
                <a:solidFill>
                  <a:srgbClr val="07528B"/>
                </a:solidFill>
                <a:latin typeface="Arial"/>
                <a:ea typeface="Arial"/>
                <a:cs typeface="Arial"/>
              </a:rPr>
              <a:t xml:space="preserve">При росте на 10% модельная оценка цены меняется примерно на: покупатели +5,3%, comp_2 +5,2%, вес +1,3% (при прочих равных).</a:t>
            </a:r>
            <a:endParaRPr lang="ru-RU" sz="12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2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section"/>
          <p:cNvSpPr txBox="1"/>
          <p:nvPr/>
        </p:nvSpPr>
        <p:spPr>
          <a:xfrm>
            <a:off x="1005840" y="640080"/>
            <a:ext cx="10149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200" b="1">
                <a:solidFill>
                  <a:srgbClr val="8FC4EA"/>
                </a:solidFill>
                <a:latin typeface="Arial"/>
                <a:ea typeface="Arial"/>
                <a:cs typeface="Arial"/>
              </a:rPr>
              <a:t xml:space="preserve">ИТОГ ИССЛЕДОВАНИЯ</a:t>
            </a:r>
            <a:endParaRPr lang="ru-RU" sz="1200"/>
          </a:p>
        </p:txBody>
      </p:sp>
      <p:sp>
        <p:nvSpPr>
          <p:cNvPr id="3" name="Conclusion title"/>
          <p:cNvSpPr txBox="1"/>
          <p:nvPr/>
        </p:nvSpPr>
        <p:spPr>
          <a:xfrm>
            <a:off x="1005840" y="1051560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Главный вывод</a:t>
            </a:r>
            <a:endParaRPr lang="ru-RU" sz="3000"/>
          </a:p>
        </p:txBody>
      </p:sp>
      <p:sp>
        <p:nvSpPr>
          <p:cNvPr id="4" name="Conclusion rule"/>
          <p:cNvSpPr/>
          <p:nvPr/>
        </p:nvSpPr>
        <p:spPr>
          <a:xfrm>
            <a:off x="1005840" y="1783080"/>
            <a:ext cx="9966960" cy="36576"/>
          </a:xfrm>
          <a:prstGeom prst="rect">
            <a:avLst/>
          </a:prstGeom>
          <a:solidFill>
            <a:srgbClr val="8FC4EA"/>
          </a:solidFill>
          <a:ln>
            <a:noFill/>
          </a:ln>
        </p:spPr>
      </p:sp>
      <p:sp>
        <p:nvSpPr>
          <p:cNvPr id="5" name="Conclusion point one"/>
          <p:cNvSpPr txBox="1"/>
          <p:nvPr/>
        </p:nvSpPr>
        <p:spPr>
          <a:xfrm>
            <a:off x="1024128" y="2084832"/>
            <a:ext cx="987552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По отдельности положительная связь обнаружена для всех трёх конкурентов.</a:t>
            </a:r>
            <a:endParaRPr lang="ru-RU" sz="2100"/>
          </a:p>
        </p:txBody>
      </p:sp>
      <p:sp>
        <p:nvSpPr>
          <p:cNvPr id="6" name="Conclusion point two"/>
          <p:cNvSpPr txBox="1"/>
          <p:nvPr/>
        </p:nvSpPr>
        <p:spPr>
          <a:xfrm>
            <a:off x="1024128" y="2926080"/>
            <a:ext cx="9875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В общей модели индивидуально значим comp_2, а три цены конкурентов значимы совместно.</a:t>
            </a:r>
            <a:endParaRPr lang="ru-RU" sz="2100"/>
          </a:p>
        </p:txBody>
      </p:sp>
      <p:sp>
        <p:nvSpPr>
          <p:cNvPr id="7" name="Conclusion point three"/>
          <p:cNvSpPr txBox="1"/>
          <p:nvPr/>
        </p:nvSpPr>
        <p:spPr>
          <a:xfrm>
            <a:off x="1024128" y="4041648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Число покупателей и вес также положительно связаны с общей ценой.</a:t>
            </a:r>
            <a:endParaRPr lang="ru-RU" sz="2000"/>
          </a:p>
        </p:txBody>
      </p:sp>
      <p:sp>
        <p:nvSpPr>
          <p:cNvPr id="8" name="Conclusion limitation"/>
          <p:cNvSpPr txBox="1"/>
          <p:nvPr/>
        </p:nvSpPr>
        <p:spPr>
          <a:xfrm>
            <a:off x="1024128" y="4974336"/>
            <a:ext cx="98755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1600" b="1">
                <a:solidFill>
                  <a:srgbClr val="8FC4EA"/>
                </a:solidFill>
                <a:latin typeface="Arial"/>
                <a:ea typeface="Arial"/>
                <a:cs typeface="Arial"/>
              </a:rPr>
              <a:t xml:space="preserve">Это статистические связи; причинное влияние работа не устанавливает.</a:t>
            </a:r>
            <a:endParaRPr lang="ru-RU" sz="1600"/>
          </a:p>
        </p:txBody>
      </p:sp>
      <p:sp>
        <p:nvSpPr>
          <p:cNvPr id="9" name="Thank you"/>
          <p:cNvSpPr txBox="1"/>
          <p:nvPr/>
        </p:nvSpPr>
        <p:spPr>
          <a:xfrm>
            <a:off x="1024128" y="5925312"/>
            <a:ext cx="987552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lIns="73152" rIns="73152" tIns="73152" bIns="73152">
            <a:noAutofit/>
          </a:bodyPr>
          <a:lstStyle/>
          <a:p>
            <a:pPr algn="l"/>
            <a:r>
              <a:rPr lang="ru-RU"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Спасибо за внимание!</a:t>
            </a:r>
            <a:endParaRPr lang="ru-RU" sz="2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sework">
  <a:themeElements>
    <a:clrScheme name="Coursework">
      <a:dk1>
        <a:srgbClr val="17324D"/>
      </a:dk1>
      <a:lt1>
        <a:srgbClr val="FFFFFF"/>
      </a:lt1>
      <a:dk2>
        <a:srgbClr val="1E2933"/>
      </a:dk2>
      <a:lt2>
        <a:srgbClr val="F3F7FA"/>
      </a:lt2>
      <a:accent1>
        <a:srgbClr val="2F8F83"/>
      </a:accent1>
      <a:accent2>
        <a:srgbClr val="E7B85B"/>
      </a:accent2>
      <a:accent3>
        <a:srgbClr val="B65050"/>
      </a:accent3>
      <a:accent4>
        <a:srgbClr val="526575"/>
      </a:accent4>
      <a:accent5>
        <a:srgbClr val="D8E5EB"/>
      </a:accent5>
      <a:accent6>
        <a:srgbClr val="8BB7AD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oursewor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