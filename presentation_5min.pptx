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 type="screen16x9"/>
  <p:notesSz cx="6858000" cy="9144000"/>
  <p:defaultTextStyle>
    <a:defPPr>
      <a:defRPr lang="ru-RU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residuals_simple.png"/><Relationship Id="rId2" Type="http://schemas.openxmlformats.org/officeDocument/2006/relationships/image" Target="../media/coefficients_ci_simple.png"/><Relationship Id="rId3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640080" y="411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200" b="1" i="0">
                <a:solidFill>
                  <a:srgbClr val="2F8F83"/>
                </a:solidFill>
                <a:latin typeface="Arial"/>
              </a:rPr>
              <a:t xml:space="preserve">КУРСОВАЯ · МАТЕМАТИЧЕСКАЯ СТАТИСТИКА</a:t>
            </a:r>
            <a:endParaRPr lang="ru-RU" sz="1200"/>
          </a:p>
        </p:txBody>
      </p:sp>
      <p:sp>
        <p:nvSpPr>
          <p:cNvPr id="3" name="Shape 3"/>
          <p:cNvSpPr/>
          <p:nvPr/>
        </p:nvSpPr>
        <p:spPr>
          <a:xfrm>
            <a:off x="640080" y="960120"/>
            <a:ext cx="10607040" cy="201168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3200" b="1" i="0">
                <a:solidFill>
                  <a:srgbClr val="17324D"/>
                </a:solidFill>
                <a:latin typeface="Arial"/>
              </a:rPr>
              <a:t xml:space="preserve">Линейная регрессия</a:t>
            </a:r>
            <a:endParaRPr lang="ru-RU" sz="3200"/>
          </a:p>
          <a:p>
            <a:pPr algn="l"/>
            <a:r>
              <a:rPr lang="ru-RU" sz="3200" b="1" i="0">
                <a:solidFill>
                  <a:srgbClr val="17324D"/>
                </a:solidFill>
                <a:latin typeface="Arial"/>
              </a:rPr>
              <a:t xml:space="preserve">для анализа факторов</a:t>
            </a:r>
            <a:endParaRPr lang="ru-RU" sz="3200"/>
          </a:p>
          <a:p>
            <a:pPr algn="l"/>
            <a:r>
              <a:rPr lang="ru-RU" sz="3200" b="1" i="0">
                <a:solidFill>
                  <a:srgbClr val="17324D"/>
                </a:solidFill>
                <a:latin typeface="Arial"/>
              </a:rPr>
              <a:t xml:space="preserve">цены товара</a:t>
            </a:r>
            <a:endParaRPr lang="ru-RU" sz="3200"/>
          </a:p>
        </p:txBody>
      </p:sp>
      <p:sp>
        <p:nvSpPr>
          <p:cNvPr id="4" name="Shape 4"/>
          <p:cNvSpPr/>
          <p:nvPr/>
        </p:nvSpPr>
        <p:spPr>
          <a:xfrm>
            <a:off x="658368" y="3182112"/>
            <a:ext cx="9875520" cy="65836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2100" b="0" i="0">
                <a:solidFill>
                  <a:srgbClr val="526575"/>
                </a:solidFill>
                <a:latin typeface="Arial"/>
              </a:rPr>
              <a:t xml:space="preserve">Какие характеристики связаны с общей ценой товара?</a:t>
            </a:r>
            <a:endParaRPr lang="ru-RU" sz="2100"/>
          </a:p>
        </p:txBody>
      </p:sp>
      <p:sp>
        <p:nvSpPr>
          <p:cNvPr id="5" name="Shape 5"/>
          <p:cNvSpPr/>
          <p:nvPr/>
        </p:nvSpPr>
        <p:spPr>
          <a:xfrm>
            <a:off x="658368" y="4160520"/>
            <a:ext cx="3383280" cy="1078992"/>
          </a:xfrm>
          <a:prstGeom prst="roundRect">
            <a:avLst/>
          </a:prstGeom>
          <a:solidFill>
            <a:srgbClr val="2F8F83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ctr"/>
            <a:r>
              <a:rPr lang="ru-RU" sz="2000" b="1" i="0">
                <a:solidFill>
                  <a:srgbClr val="FFFFFF"/>
                </a:solidFill>
                <a:latin typeface="Arial"/>
              </a:rPr>
              <a:t xml:space="preserve">676</a:t>
            </a:r>
            <a:endParaRPr lang="ru-RU" sz="2000"/>
          </a:p>
          <a:p>
            <a:pPr algn="ctr"/>
            <a:r>
              <a:rPr lang="ru-RU" sz="2000" b="1" i="0">
                <a:solidFill>
                  <a:srgbClr val="FFFFFF"/>
                </a:solidFill>
                <a:latin typeface="Arial"/>
              </a:rPr>
              <a:t xml:space="preserve">наблюдений</a:t>
            </a:r>
            <a:endParaRPr lang="ru-RU" sz="2000"/>
          </a:p>
        </p:txBody>
      </p:sp>
      <p:sp>
        <p:nvSpPr>
          <p:cNvPr id="6" name="Shape 6"/>
          <p:cNvSpPr/>
          <p:nvPr/>
        </p:nvSpPr>
        <p:spPr>
          <a:xfrm>
            <a:off x="4407408" y="4160520"/>
            <a:ext cx="3383280" cy="1078992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ctr"/>
            <a:r>
              <a:rPr lang="ru-RU" sz="2000" b="1" i="0">
                <a:solidFill>
                  <a:srgbClr val="FFFFFF"/>
                </a:solidFill>
                <a:latin typeface="Arial"/>
              </a:rPr>
              <a:t xml:space="preserve">52</a:t>
            </a:r>
            <a:endParaRPr lang="ru-RU" sz="2000"/>
          </a:p>
          <a:p>
            <a:pPr algn="ctr"/>
            <a:r>
              <a:rPr lang="ru-RU" sz="2000" b="1" i="0">
                <a:solidFill>
                  <a:srgbClr val="FFFFFF"/>
                </a:solidFill>
                <a:latin typeface="Arial"/>
              </a:rPr>
              <a:t xml:space="preserve">товара</a:t>
            </a:r>
            <a:endParaRPr lang="ru-RU" sz="2000"/>
          </a:p>
        </p:txBody>
      </p:sp>
      <p:sp>
        <p:nvSpPr>
          <p:cNvPr id="7" name="Shape 7"/>
          <p:cNvSpPr/>
          <p:nvPr/>
        </p:nvSpPr>
        <p:spPr>
          <a:xfrm>
            <a:off x="8156448" y="4160520"/>
            <a:ext cx="3383280" cy="1078992"/>
          </a:xfrm>
          <a:prstGeom prst="roundRect">
            <a:avLst/>
          </a:prstGeom>
          <a:solidFill>
            <a:srgbClr val="E7B85B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ctr"/>
            <a:r>
              <a:rPr lang="ru-RU" sz="2000" b="1" i="0">
                <a:solidFill>
                  <a:srgbClr val="17324D"/>
                </a:solidFill>
                <a:latin typeface="Arial"/>
              </a:rPr>
              <a:t xml:space="preserve">3</a:t>
            </a:r>
            <a:endParaRPr lang="ru-RU" sz="2000"/>
          </a:p>
          <a:p>
            <a:pPr algn="ctr"/>
            <a:r>
              <a:rPr lang="ru-RU" sz="2000" b="1" i="0">
                <a:solidFill>
                  <a:srgbClr val="17324D"/>
                </a:solidFill>
                <a:latin typeface="Arial"/>
              </a:rPr>
              <a:t xml:space="preserve">фактора</a:t>
            </a:r>
            <a:endParaRPr lang="ru-RU" sz="2000"/>
          </a:p>
        </p:txBody>
      </p:sp>
      <p:sp>
        <p:nvSpPr>
          <p:cNvPr id="8" name="Shape 8"/>
          <p:cNvSpPr/>
          <p:nvPr/>
        </p:nvSpPr>
        <p:spPr>
          <a:xfrm>
            <a:off x="658368" y="6080760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200" b="0" i="0">
                <a:solidFill>
                  <a:srgbClr val="526575"/>
                </a:solidFill>
                <a:latin typeface="Arial"/>
              </a:rPr>
              <a:t xml:space="preserve">Максим Кибардин · Казань · 2026</a:t>
            </a:r>
            <a:endParaRPr lang="ru-RU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2920" y="228600"/>
            <a:ext cx="11064240" cy="29260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000" b="1" i="0">
                <a:solidFill>
                  <a:srgbClr val="2F8F83"/>
                </a:solidFill>
                <a:latin typeface="Arial"/>
              </a:rPr>
              <a:t xml:space="preserve">ВОПРОС И ДАННЫЕ</a:t>
            </a:r>
            <a:endParaRPr lang="ru-RU" sz="1000"/>
          </a:p>
        </p:txBody>
      </p:sp>
      <p:sp>
        <p:nvSpPr>
          <p:cNvPr id="3" name="Shape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2700" b="1" i="0">
                <a:solidFill>
                  <a:srgbClr val="17324D"/>
                </a:solidFill>
                <a:latin typeface="Arial"/>
              </a:rPr>
              <a:t xml:space="preserve">Что анализируем?</a:t>
            </a:r>
            <a:endParaRPr lang="ru-RU" sz="2700"/>
          </a:p>
        </p:txBody>
      </p:sp>
      <p:sp>
        <p:nvSpPr>
          <p:cNvPr id="4" name="Shape 4"/>
          <p:cNvSpPr/>
          <p:nvPr/>
        </p:nvSpPr>
        <p:spPr>
          <a:xfrm>
            <a:off x="502920" y="6473952"/>
            <a:ext cx="10332720" cy="18288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900" b="0" i="0">
                <a:solidFill>
                  <a:srgbClr val="526575"/>
                </a:solidFill>
                <a:latin typeface="Arial"/>
              </a:rPr>
              <a:t xml:space="preserve">Курсовая работа · анализ Retail Price</a:t>
            </a:r>
            <a:endParaRPr lang="ru-RU" sz="900"/>
          </a:p>
        </p:txBody>
      </p:sp>
      <p:sp>
        <p:nvSpPr>
          <p:cNvPr id="5" name="Shape 5"/>
          <p:cNvSpPr/>
          <p:nvPr/>
        </p:nvSpPr>
        <p:spPr>
          <a:xfrm>
            <a:off x="11137392" y="641908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r"/>
            <a:r>
              <a:rPr lang="ru-RU" sz="1000" b="1" i="0">
                <a:solidFill>
                  <a:srgbClr val="2F8F83"/>
                </a:solidFill>
                <a:latin typeface="Arial"/>
              </a:rPr>
              <a:t xml:space="preserve">02</a:t>
            </a:r>
            <a:endParaRPr lang="ru-RU" sz="1000"/>
          </a:p>
        </p:txBody>
      </p:sp>
      <p:sp>
        <p:nvSpPr>
          <p:cNvPr id="6" name="Shape 6"/>
          <p:cNvSpPr/>
          <p:nvPr/>
        </p:nvSpPr>
        <p:spPr>
          <a:xfrm>
            <a:off x="502920" y="1207008"/>
            <a:ext cx="11155680" cy="22860"/>
          </a:xfrm>
          <a:prstGeom prst="rect">
            <a:avLst/>
          </a:prstGeom>
          <a:solidFill>
            <a:srgbClr val="2F8F83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00" b="0" i="0">
                <a:solidFill>
                  <a:srgbClr val="1E2933"/>
                </a:solidFill>
                <a:latin typeface="Arial"/>
              </a:rPr>
              <a:t xml:space="preserve"/>
            </a:r>
            <a:endParaRPr lang="ru-RU" sz="100"/>
          </a:p>
        </p:txBody>
      </p:sp>
      <p:sp>
        <p:nvSpPr>
          <p:cNvPr id="7" name="Shape 7"/>
          <p:cNvSpPr/>
          <p:nvPr/>
        </p:nvSpPr>
        <p:spPr>
          <a:xfrm>
            <a:off x="621792" y="1389888"/>
            <a:ext cx="10881360" cy="512064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900" b="0" i="0">
                <a:solidFill>
                  <a:srgbClr val="1E2933"/>
                </a:solidFill>
                <a:latin typeface="Arial"/>
              </a:rPr>
              <a:t xml:space="preserve">Связь общей цены товара с тремя выбранными характеристиками</a:t>
            </a:r>
            <a:endParaRPr lang="ru-RU" sz="1900"/>
          </a:p>
        </p:txBody>
      </p:sp>
      <p:sp>
        <p:nvSpPr>
          <p:cNvPr id="8" name="Shape 8"/>
          <p:cNvSpPr/>
          <p:nvPr/>
        </p:nvSpPr>
        <p:spPr>
          <a:xfrm>
            <a:off x="621792" y="2084832"/>
            <a:ext cx="347472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/>
            </a:r>
            <a:endParaRPr lang="ru-RU" sz="1400"/>
          </a:p>
        </p:txBody>
      </p:sp>
      <p:sp>
        <p:nvSpPr>
          <p:cNvPr id="9" name="Shape 9"/>
          <p:cNvSpPr/>
          <p:nvPr/>
        </p:nvSpPr>
        <p:spPr>
          <a:xfrm>
            <a:off x="786384" y="2231136"/>
            <a:ext cx="3145536" cy="310896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1" i="0">
                <a:solidFill>
                  <a:srgbClr val="2F8F83"/>
                </a:solidFill>
                <a:latin typeface="Arial"/>
              </a:rPr>
              <a:t xml:space="preserve">676 НАБЛЮДЕНИЙ</a:t>
            </a:r>
            <a:endParaRPr lang="ru-RU" sz="1400"/>
          </a:p>
        </p:txBody>
      </p:sp>
      <p:sp>
        <p:nvSpPr>
          <p:cNvPr id="10" name="Shape 10"/>
          <p:cNvSpPr/>
          <p:nvPr/>
        </p:nvSpPr>
        <p:spPr>
          <a:xfrm>
            <a:off x="786384" y="2596896"/>
            <a:ext cx="3145536" cy="73152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t"/>
          <a:lstStyle/>
          <a:p>
            <a:pPr algn="l"/>
            <a:r>
              <a:rPr lang="ru-RU" sz="1500" b="0" i="0">
                <a:solidFill>
                  <a:srgbClr val="1E2933"/>
                </a:solidFill>
                <a:latin typeface="Arial"/>
              </a:rPr>
              <a:t xml:space="preserve">Строки по товарам и месяцам</a:t>
            </a:r>
            <a:endParaRPr lang="ru-RU" sz="1500"/>
          </a:p>
        </p:txBody>
      </p:sp>
      <p:sp>
        <p:nvSpPr>
          <p:cNvPr id="12" name="Shape 12"/>
          <p:cNvSpPr/>
          <p:nvPr/>
        </p:nvSpPr>
        <p:spPr>
          <a:xfrm>
            <a:off x="4361688" y="2084832"/>
            <a:ext cx="347472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/>
            </a:r>
            <a:endParaRPr lang="ru-RU" sz="1400"/>
          </a:p>
        </p:txBody>
      </p:sp>
      <p:sp>
        <p:nvSpPr>
          <p:cNvPr id="13" name="Shape 13"/>
          <p:cNvSpPr/>
          <p:nvPr/>
        </p:nvSpPr>
        <p:spPr>
          <a:xfrm>
            <a:off x="4526280" y="2231136"/>
            <a:ext cx="3145536" cy="310896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1" i="0">
                <a:solidFill>
                  <a:srgbClr val="17324D"/>
                </a:solidFill>
                <a:latin typeface="Arial"/>
              </a:rPr>
              <a:t xml:space="preserve">52 ТОВАРА</a:t>
            </a:r>
            <a:endParaRPr lang="ru-RU" sz="1400"/>
          </a:p>
        </p:txBody>
      </p:sp>
      <p:sp>
        <p:nvSpPr>
          <p:cNvPr id="14" name="Shape 14"/>
          <p:cNvSpPr/>
          <p:nvPr/>
        </p:nvSpPr>
        <p:spPr>
          <a:xfrm>
            <a:off x="4526280" y="2596896"/>
            <a:ext cx="3145536" cy="73152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t"/>
          <a:lstStyle/>
          <a:p>
            <a:pPr algn="l"/>
            <a:r>
              <a:rPr lang="ru-RU" sz="1500" b="0" i="0">
                <a:solidFill>
                  <a:srgbClr val="1E2933"/>
                </a:solidFill>
                <a:latin typeface="Arial"/>
              </a:rPr>
              <a:t xml:space="preserve">Один товар встречается повторно</a:t>
            </a:r>
            <a:endParaRPr lang="ru-RU" sz="1500"/>
          </a:p>
        </p:txBody>
      </p:sp>
      <p:sp>
        <p:nvSpPr>
          <p:cNvPr id="16" name="Shape 16"/>
          <p:cNvSpPr/>
          <p:nvPr/>
        </p:nvSpPr>
        <p:spPr>
          <a:xfrm>
            <a:off x="8101584" y="2084832"/>
            <a:ext cx="3474720" cy="135331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/>
            </a:r>
            <a:endParaRPr lang="ru-RU" sz="1400"/>
          </a:p>
        </p:txBody>
      </p:sp>
      <p:sp>
        <p:nvSpPr>
          <p:cNvPr id="17" name="Shape 17"/>
          <p:cNvSpPr/>
          <p:nvPr/>
        </p:nvSpPr>
        <p:spPr>
          <a:xfrm>
            <a:off x="8266176" y="2231136"/>
            <a:ext cx="3145536" cy="310896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1" i="0">
                <a:solidFill>
                  <a:srgbClr val="A87618"/>
                </a:solidFill>
                <a:latin typeface="Arial"/>
              </a:rPr>
              <a:t xml:space="preserve">2017–2018</a:t>
            </a:r>
            <a:endParaRPr lang="ru-RU" sz="1400"/>
          </a:p>
        </p:txBody>
      </p:sp>
      <p:sp>
        <p:nvSpPr>
          <p:cNvPr id="18" name="Shape 18"/>
          <p:cNvSpPr/>
          <p:nvPr/>
        </p:nvSpPr>
        <p:spPr>
          <a:xfrm>
            <a:off x="8266176" y="2596896"/>
            <a:ext cx="3145536" cy="73152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t"/>
          <a:lstStyle/>
          <a:p>
            <a:pPr algn="l"/>
            <a:r>
              <a:rPr lang="ru-RU" sz="1500" b="0" i="0">
                <a:solidFill>
                  <a:srgbClr val="1E2933"/>
                </a:solidFill>
                <a:latin typeface="Arial"/>
              </a:rPr>
              <a:t xml:space="preserve">Период исходного набора данных</a:t>
            </a:r>
            <a:endParaRPr lang="ru-RU" sz="1500"/>
          </a:p>
        </p:txBody>
      </p:sp>
      <p:sp>
        <p:nvSpPr>
          <p:cNvPr id="20" name="Shape 20"/>
          <p:cNvSpPr/>
          <p:nvPr/>
        </p:nvSpPr>
        <p:spPr>
          <a:xfrm>
            <a:off x="731520" y="3886200"/>
            <a:ext cx="5029200" cy="41148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700" b="1" i="0">
                <a:solidFill>
                  <a:srgbClr val="17324D"/>
                </a:solidFill>
                <a:latin typeface="Arial"/>
              </a:rPr>
              <a:t xml:space="preserve">В модель включены</a:t>
            </a:r>
            <a:endParaRPr lang="ru-RU" sz="1700"/>
          </a:p>
        </p:txBody>
      </p:sp>
      <p:sp>
        <p:nvSpPr>
          <p:cNvPr id="21" name="Shape 21"/>
          <p:cNvSpPr/>
          <p:nvPr/>
        </p:nvSpPr>
        <p:spPr>
          <a:xfrm>
            <a:off x="868680" y="4370832"/>
            <a:ext cx="10424160" cy="96012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t"/>
          <a:lstStyle/>
          <a:p>
            <a:pPr algn="l"/>
            <a:r>
              <a:rPr lang="ru-RU" sz="1800" b="0" i="0">
                <a:solidFill>
                  <a:srgbClr val="1E2933"/>
                </a:solidFill>
                <a:latin typeface="Arial"/>
              </a:rPr>
              <a:t xml:space="preserve">• Число покупателей</a:t>
            </a:r>
            <a:endParaRPr lang="ru-RU" sz="1800"/>
          </a:p>
          <a:p>
            <a:pPr algn="l"/>
            <a:r>
              <a:rPr lang="ru-RU" sz="1800" b="0" i="0">
                <a:solidFill>
                  <a:srgbClr val="1E2933"/>
                </a:solidFill>
                <a:latin typeface="Arial"/>
              </a:rPr>
              <a:t xml:space="preserve">• Цена третьего конкурента</a:t>
            </a:r>
            <a:endParaRPr lang="ru-RU" sz="1800"/>
          </a:p>
          <a:p>
            <a:pPr algn="l"/>
            <a:r>
              <a:rPr lang="ru-RU" sz="1800" b="0" i="0">
                <a:solidFill>
                  <a:srgbClr val="1E2933"/>
                </a:solidFill>
                <a:latin typeface="Arial"/>
              </a:rPr>
              <a:t xml:space="preserve">• Вес товара</a:t>
            </a:r>
            <a:endParaRPr lang="ru-RU" sz="1800"/>
          </a:p>
        </p:txBody>
      </p:sp>
      <p:sp>
        <p:nvSpPr>
          <p:cNvPr id="22" name="Shape 22"/>
          <p:cNvSpPr/>
          <p:nvPr/>
        </p:nvSpPr>
        <p:spPr>
          <a:xfrm>
            <a:off x="731520" y="5486400"/>
            <a:ext cx="10698480" cy="29260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300" b="0" i="0">
                <a:solidFill>
                  <a:srgbClr val="526575"/>
                </a:solidFill>
                <a:latin typeface="Arial"/>
              </a:rPr>
              <a:t xml:space="preserve">Средняя общая цена — 1 423, медианная — 808 денежных единиц.</a:t>
            </a:r>
            <a:endParaRPr lang="ru-RU" sz="1300"/>
          </a:p>
        </p:txBody>
      </p:sp>
      <p:sp>
        <p:nvSpPr>
          <p:cNvPr id="23" name="Shape 23"/>
          <p:cNvSpPr/>
          <p:nvPr/>
        </p:nvSpPr>
        <p:spPr>
          <a:xfrm>
            <a:off x="731520" y="5833872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100" b="0" i="0">
                <a:solidFill>
                  <a:srgbClr val="526575"/>
                </a:solidFill>
                <a:latin typeface="Arial"/>
              </a:rPr>
              <a:t xml:space="preserve">Цена за единицу, количество и цена за прошлый период исключены из-за тесной связи с общей ценой.</a:t>
            </a:r>
            <a:endParaRPr lang="ru-RU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2920" y="228600"/>
            <a:ext cx="11064240" cy="29260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000" b="1" i="0">
                <a:solidFill>
                  <a:srgbClr val="2F8F83"/>
                </a:solidFill>
                <a:latin typeface="Arial"/>
              </a:rPr>
              <a:t xml:space="preserve">МЕТОД</a:t>
            </a:r>
            <a:endParaRPr lang="ru-RU" sz="1000"/>
          </a:p>
        </p:txBody>
      </p:sp>
      <p:sp>
        <p:nvSpPr>
          <p:cNvPr id="3" name="Shape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2700" b="1" i="0">
                <a:solidFill>
                  <a:srgbClr val="17324D"/>
                </a:solidFill>
                <a:latin typeface="Arial"/>
              </a:rPr>
              <a:t xml:space="preserve">Как устроена модель?</a:t>
            </a:r>
            <a:endParaRPr lang="ru-RU" sz="2700"/>
          </a:p>
        </p:txBody>
      </p:sp>
      <p:sp>
        <p:nvSpPr>
          <p:cNvPr id="4" name="Shape 4"/>
          <p:cNvSpPr/>
          <p:nvPr/>
        </p:nvSpPr>
        <p:spPr>
          <a:xfrm>
            <a:off x="502920" y="6473952"/>
            <a:ext cx="10332720" cy="18288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900" b="0" i="0">
                <a:solidFill>
                  <a:srgbClr val="526575"/>
                </a:solidFill>
                <a:latin typeface="Arial"/>
              </a:rPr>
              <a:t xml:space="preserve">Курсовая работа · анализ Retail Price</a:t>
            </a:r>
            <a:endParaRPr lang="ru-RU" sz="900"/>
          </a:p>
        </p:txBody>
      </p:sp>
      <p:sp>
        <p:nvSpPr>
          <p:cNvPr id="5" name="Shape 5"/>
          <p:cNvSpPr/>
          <p:nvPr/>
        </p:nvSpPr>
        <p:spPr>
          <a:xfrm>
            <a:off x="11137392" y="641908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r"/>
            <a:r>
              <a:rPr lang="ru-RU" sz="1000" b="1" i="0">
                <a:solidFill>
                  <a:srgbClr val="2F8F83"/>
                </a:solidFill>
                <a:latin typeface="Arial"/>
              </a:rPr>
              <a:t xml:space="preserve">03</a:t>
            </a:r>
            <a:endParaRPr lang="ru-RU" sz="1000"/>
          </a:p>
        </p:txBody>
      </p:sp>
      <p:sp>
        <p:nvSpPr>
          <p:cNvPr id="6" name="Shape 6"/>
          <p:cNvSpPr/>
          <p:nvPr/>
        </p:nvSpPr>
        <p:spPr>
          <a:xfrm>
            <a:off x="502920" y="1207008"/>
            <a:ext cx="11155680" cy="22860"/>
          </a:xfrm>
          <a:prstGeom prst="rect">
            <a:avLst/>
          </a:prstGeom>
          <a:solidFill>
            <a:srgbClr val="2F8F83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00" b="0" i="0">
                <a:solidFill>
                  <a:srgbClr val="1E2933"/>
                </a:solidFill>
                <a:latin typeface="Arial"/>
              </a:rPr>
              <a:t xml:space="preserve"/>
            </a:r>
            <a:endParaRPr lang="ru-RU" sz="100"/>
          </a:p>
        </p:txBody>
      </p:sp>
      <p:sp>
        <p:nvSpPr>
          <p:cNvPr id="7" name="Shape 7"/>
          <p:cNvSpPr/>
          <p:nvPr/>
        </p:nvSpPr>
        <p:spPr>
          <a:xfrm>
            <a:off x="658368" y="1481328"/>
            <a:ext cx="10789920" cy="914400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txBody>
          <a:bodyPr wrap="square" lIns="182880" rIns="182880" tIns="182880" bIns="182880" anchor="ctr"/>
          <a:lstStyle/>
          <a:p>
            <a:pPr algn="ctr"/>
            <a:r>
              <a:rPr lang="ru-RU" sz="2000" b="1" i="0">
                <a:solidFill>
                  <a:srgbClr val="FFFFFF"/>
                </a:solidFill>
                <a:latin typeface="Arial"/>
              </a:rPr>
              <a:t xml:space="preserve">ln(цена) = β₀ + β₁ ln(покупатели) + β₂ ln(цена конкурента)</a:t>
            </a:r>
            <a:endParaRPr lang="ru-RU" sz="2000"/>
          </a:p>
          <a:p>
            <a:pPr algn="ctr"/>
            <a:r>
              <a:rPr lang="ru-RU" sz="2000" b="1" i="0">
                <a:solidFill>
                  <a:srgbClr val="FFFFFF"/>
                </a:solidFill>
                <a:latin typeface="Arial"/>
              </a:rPr>
              <a:t xml:space="preserve">+ β₃ ln(вес) + ошибка</a:t>
            </a:r>
            <a:endParaRPr lang="ru-RU" sz="2000"/>
          </a:p>
        </p:txBody>
      </p:sp>
      <p:sp>
        <p:nvSpPr>
          <p:cNvPr id="11" name="Shape 11"/>
          <p:cNvSpPr/>
          <p:nvPr/>
        </p:nvSpPr>
        <p:spPr>
          <a:xfrm>
            <a:off x="658368" y="2788920"/>
            <a:ext cx="347472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/>
            </a:r>
            <a:endParaRPr lang="ru-RU" sz="1400"/>
          </a:p>
        </p:txBody>
      </p:sp>
      <p:sp>
        <p:nvSpPr>
          <p:cNvPr id="12" name="Shape 12"/>
          <p:cNvSpPr/>
          <p:nvPr/>
        </p:nvSpPr>
        <p:spPr>
          <a:xfrm>
            <a:off x="822960" y="2935224"/>
            <a:ext cx="3145536" cy="310896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1" i="0">
                <a:solidFill>
                  <a:srgbClr val="2F8F83"/>
                </a:solidFill>
                <a:latin typeface="Arial"/>
              </a:rPr>
              <a:t xml:space="preserve">ИНТЕРПРЕТАЦИЯ</a:t>
            </a:r>
            <a:endParaRPr lang="ru-RU" sz="1400"/>
          </a:p>
        </p:txBody>
      </p:sp>
      <p:sp>
        <p:nvSpPr>
          <p:cNvPr id="13" name="Shape 13"/>
          <p:cNvSpPr/>
          <p:nvPr/>
        </p:nvSpPr>
        <p:spPr>
          <a:xfrm>
            <a:off x="822960" y="3300984"/>
            <a:ext cx="3145536" cy="152704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t"/>
          <a:lstStyle/>
          <a:p>
            <a:pPr algn="l"/>
            <a:r>
              <a:rPr lang="ru-RU" sz="1500" b="0" i="0">
                <a:solidFill>
                  <a:srgbClr val="1E2933"/>
                </a:solidFill>
                <a:latin typeface="Arial"/>
              </a:rPr>
              <a:t xml:space="preserve">В логарифмической модели коэффициент показывает приблизительное изменение цены в процентах при изменении признака на 1%.</a:t>
            </a:r>
            <a:endParaRPr lang="ru-RU" sz="1500"/>
          </a:p>
        </p:txBody>
      </p:sp>
      <p:sp>
        <p:nvSpPr>
          <p:cNvPr id="15" name="Shape 15"/>
          <p:cNvSpPr/>
          <p:nvPr/>
        </p:nvSpPr>
        <p:spPr>
          <a:xfrm>
            <a:off x="4361688" y="2788920"/>
            <a:ext cx="347472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/>
            </a:r>
            <a:endParaRPr lang="ru-RU" sz="1400"/>
          </a:p>
        </p:txBody>
      </p:sp>
      <p:sp>
        <p:nvSpPr>
          <p:cNvPr id="16" name="Shape 16"/>
          <p:cNvSpPr/>
          <p:nvPr/>
        </p:nvSpPr>
        <p:spPr>
          <a:xfrm>
            <a:off x="4526280" y="2935224"/>
            <a:ext cx="3145536" cy="310896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1" i="0">
                <a:solidFill>
                  <a:srgbClr val="17324D"/>
                </a:solidFill>
                <a:latin typeface="Arial"/>
              </a:rPr>
              <a:t xml:space="preserve">ПРОВЕРКА</a:t>
            </a:r>
            <a:endParaRPr lang="ru-RU" sz="1400"/>
          </a:p>
        </p:txBody>
      </p:sp>
      <p:sp>
        <p:nvSpPr>
          <p:cNvPr id="17" name="Shape 17"/>
          <p:cNvSpPr/>
          <p:nvPr/>
        </p:nvSpPr>
        <p:spPr>
          <a:xfrm>
            <a:off x="4526280" y="3300984"/>
            <a:ext cx="3145536" cy="152704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t"/>
          <a:lstStyle/>
          <a:p>
            <a:pPr algn="l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>Для коэффициентов: H₀: β = 0; используем p-value и 95%-ный интервал. Общий F-тест проверяет, равны ли нулю все три коэффициента.</a:t>
            </a:r>
            <a:endParaRPr lang="ru-RU" sz="1400"/>
          </a:p>
        </p:txBody>
      </p:sp>
      <p:sp>
        <p:nvSpPr>
          <p:cNvPr id="19" name="Shape 19"/>
          <p:cNvSpPr/>
          <p:nvPr/>
        </p:nvSpPr>
        <p:spPr>
          <a:xfrm>
            <a:off x="8065008" y="2788920"/>
            <a:ext cx="347472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/>
            </a:r>
            <a:endParaRPr lang="ru-RU" sz="1400"/>
          </a:p>
        </p:txBody>
      </p:sp>
      <p:sp>
        <p:nvSpPr>
          <p:cNvPr id="20" name="Shape 20"/>
          <p:cNvSpPr/>
          <p:nvPr/>
        </p:nvSpPr>
        <p:spPr>
          <a:xfrm>
            <a:off x="8229600" y="2935224"/>
            <a:ext cx="3145536" cy="310896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1" i="0">
                <a:solidFill>
                  <a:srgbClr val="A87618"/>
                </a:solidFill>
                <a:latin typeface="Arial"/>
              </a:rPr>
              <a:t xml:space="preserve">ПОВТОРЫ ТОВАРОВ</a:t>
            </a:r>
            <a:endParaRPr lang="ru-RU" sz="1400"/>
          </a:p>
        </p:txBody>
      </p:sp>
      <p:sp>
        <p:nvSpPr>
          <p:cNvPr id="21" name="Shape 21"/>
          <p:cNvSpPr/>
          <p:nvPr/>
        </p:nvSpPr>
        <p:spPr>
          <a:xfrm>
            <a:off x="8229600" y="3300984"/>
            <a:ext cx="3145536" cy="152704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t"/>
          <a:lstStyle/>
          <a:p>
            <a:pPr algn="l"/>
            <a:r>
              <a:rPr lang="ru-RU" sz="1500" b="0" i="0">
                <a:solidFill>
                  <a:srgbClr val="1E2933"/>
                </a:solidFill>
                <a:latin typeface="Arial"/>
              </a:rPr>
              <a:t xml:space="preserve">Ошибки сгруппированы по 52 товарам, потому что записи одного товара могут быть похожи.</a:t>
            </a:r>
            <a:endParaRPr lang="ru-RU" sz="1500"/>
          </a:p>
        </p:txBody>
      </p:sp>
      <p:sp>
        <p:nvSpPr>
          <p:cNvPr id="23" name="Shape 23"/>
          <p:cNvSpPr/>
          <p:nvPr/>
        </p:nvSpPr>
        <p:spPr>
          <a:xfrm>
            <a:off x="731520" y="5513832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0" i="0">
                <a:solidFill>
                  <a:srgbClr val="526575"/>
                </a:solidFill>
                <a:latin typeface="Arial"/>
              </a:rPr>
              <a:t xml:space="preserve">Интервал, который не включает ноль, согласуется со значимостью на уровне 5%.</a:t>
            </a:r>
            <a:endParaRPr lang="ru-RU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2920" y="228600"/>
            <a:ext cx="11064240" cy="29260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000" b="1" i="0">
                <a:solidFill>
                  <a:srgbClr val="2F8F83"/>
                </a:solidFill>
                <a:latin typeface="Arial"/>
              </a:rPr>
              <a:t xml:space="preserve">РЕЗУЛЬТАТЫ · КЛАСТЕРНЫЕ ОШИБКИ ПО ТОВАРУ</a:t>
            </a:r>
            <a:endParaRPr lang="ru-RU" sz="1000"/>
          </a:p>
        </p:txBody>
      </p:sp>
      <p:sp>
        <p:nvSpPr>
          <p:cNvPr id="3" name="Shape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2700" b="1" i="0">
                <a:solidFill>
                  <a:srgbClr val="17324D"/>
                </a:solidFill>
                <a:latin typeface="Arial"/>
              </a:rPr>
              <a:t xml:space="preserve">Что показали коэффициенты?</a:t>
            </a:r>
            <a:endParaRPr lang="ru-RU" sz="2700"/>
          </a:p>
        </p:txBody>
      </p:sp>
      <p:sp>
        <p:nvSpPr>
          <p:cNvPr id="4" name="Shape 4"/>
          <p:cNvSpPr/>
          <p:nvPr/>
        </p:nvSpPr>
        <p:spPr>
          <a:xfrm>
            <a:off x="502920" y="6473952"/>
            <a:ext cx="10332720" cy="18288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900" b="0" i="0">
                <a:solidFill>
                  <a:srgbClr val="526575"/>
                </a:solidFill>
                <a:latin typeface="Arial"/>
              </a:rPr>
              <a:t xml:space="preserve">Курсовая работа · анализ Retail Price</a:t>
            </a:r>
            <a:endParaRPr lang="ru-RU" sz="900"/>
          </a:p>
        </p:txBody>
      </p:sp>
      <p:sp>
        <p:nvSpPr>
          <p:cNvPr id="5" name="Shape 5"/>
          <p:cNvSpPr/>
          <p:nvPr/>
        </p:nvSpPr>
        <p:spPr>
          <a:xfrm>
            <a:off x="11137392" y="641908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r"/>
            <a:r>
              <a:rPr lang="ru-RU" sz="1000" b="1" i="0">
                <a:solidFill>
                  <a:srgbClr val="2F8F83"/>
                </a:solidFill>
                <a:latin typeface="Arial"/>
              </a:rPr>
              <a:t xml:space="preserve">04</a:t>
            </a:r>
            <a:endParaRPr lang="ru-RU" sz="1000"/>
          </a:p>
        </p:txBody>
      </p:sp>
      <p:sp>
        <p:nvSpPr>
          <p:cNvPr id="6" name="Shape 6"/>
          <p:cNvSpPr/>
          <p:nvPr/>
        </p:nvSpPr>
        <p:spPr>
          <a:xfrm>
            <a:off x="502920" y="1207008"/>
            <a:ext cx="11155680" cy="22860"/>
          </a:xfrm>
          <a:prstGeom prst="rect">
            <a:avLst/>
          </a:prstGeom>
          <a:solidFill>
            <a:srgbClr val="2F8F83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00" b="0" i="0">
                <a:solidFill>
                  <a:srgbClr val="1E2933"/>
                </a:solidFill>
                <a:latin typeface="Arial"/>
              </a:rPr>
              <a:t xml:space="preserve"/>
            </a:r>
            <a:endParaRPr lang="ru-RU" sz="100"/>
          </a:p>
        </p:txBody>
      </p:sp>
      <p:sp>
        <p:nvSpPr>
          <p:cNvPr id="7" name="Shape 7"/>
          <p:cNvSpPr/>
          <p:nvPr/>
        </p:nvSpPr>
        <p:spPr>
          <a:xfrm>
            <a:off x="594360" y="1572768"/>
            <a:ext cx="2971800" cy="530352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txBody>
          <a:bodyPr wrap="square" lIns="64008" rIns="64008" tIns="64008" bIns="64008" anchor="ctr"/>
          <a:lstStyle/>
          <a:p>
            <a:pPr algn="ctr"/>
            <a:r>
              <a:rPr lang="ru-RU" sz="1400" b="1" i="0">
                <a:solidFill>
                  <a:srgbClr val="FFFFFF"/>
                </a:solidFill>
                <a:latin typeface="Arial"/>
              </a:rPr>
              <a:t xml:space="preserve">Фактор</a:t>
            </a:r>
            <a:endParaRPr lang="ru-RU" sz="1400"/>
          </a:p>
        </p:txBody>
      </p:sp>
      <p:sp>
        <p:nvSpPr>
          <p:cNvPr id="8" name="Shape 8"/>
          <p:cNvSpPr/>
          <p:nvPr/>
        </p:nvSpPr>
        <p:spPr>
          <a:xfrm>
            <a:off x="3703320" y="1572768"/>
            <a:ext cx="1234440" cy="530352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txBody>
          <a:bodyPr wrap="square" lIns="64008" rIns="64008" tIns="64008" bIns="64008" anchor="ctr"/>
          <a:lstStyle/>
          <a:p>
            <a:pPr algn="ctr"/>
            <a:r>
              <a:rPr lang="ru-RU" sz="1400" b="1" i="0">
                <a:solidFill>
                  <a:srgbClr val="FFFFFF"/>
                </a:solidFill>
                <a:latin typeface="Arial"/>
              </a:rPr>
              <a:t xml:space="preserve">Оценка</a:t>
            </a:r>
            <a:endParaRPr lang="ru-RU" sz="1400"/>
          </a:p>
        </p:txBody>
      </p:sp>
      <p:sp>
        <p:nvSpPr>
          <p:cNvPr id="9" name="Shape 9"/>
          <p:cNvSpPr/>
          <p:nvPr/>
        </p:nvSpPr>
        <p:spPr>
          <a:xfrm>
            <a:off x="5074920" y="1572768"/>
            <a:ext cx="1234440" cy="530352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txBody>
          <a:bodyPr wrap="square" lIns="64008" rIns="64008" tIns="64008" bIns="64008" anchor="ctr"/>
          <a:lstStyle/>
          <a:p>
            <a:pPr algn="ctr"/>
            <a:r>
              <a:rPr lang="ru-RU" sz="1400" b="1" i="0">
                <a:solidFill>
                  <a:srgbClr val="FFFFFF"/>
                </a:solidFill>
                <a:latin typeface="Arial"/>
              </a:rPr>
              <a:t xml:space="preserve">p-value</a:t>
            </a:r>
            <a:endParaRPr lang="ru-RU" sz="1400"/>
          </a:p>
        </p:txBody>
      </p:sp>
      <p:sp>
        <p:nvSpPr>
          <p:cNvPr id="10" name="Shape 10"/>
          <p:cNvSpPr/>
          <p:nvPr/>
        </p:nvSpPr>
        <p:spPr>
          <a:xfrm>
            <a:off x="6400800" y="1572768"/>
            <a:ext cx="1737360" cy="530352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txBody>
          <a:bodyPr wrap="square" lIns="64008" rIns="64008" tIns="64008" bIns="64008" anchor="ctr"/>
          <a:lstStyle/>
          <a:p>
            <a:pPr algn="ctr"/>
            <a:r>
              <a:rPr lang="ru-RU" sz="1400" b="1" i="0">
                <a:solidFill>
                  <a:srgbClr val="FFFFFF"/>
                </a:solidFill>
                <a:latin typeface="Arial"/>
              </a:rPr>
              <a:t xml:space="preserve">95% интервал</a:t>
            </a:r>
            <a:endParaRPr lang="ru-RU" sz="1400"/>
          </a:p>
        </p:txBody>
      </p:sp>
      <p:sp>
        <p:nvSpPr>
          <p:cNvPr id="11" name="Shape 11"/>
          <p:cNvSpPr/>
          <p:nvPr/>
        </p:nvSpPr>
        <p:spPr>
          <a:xfrm>
            <a:off x="8229600" y="1572768"/>
            <a:ext cx="2560320" cy="530352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txBody>
          <a:bodyPr wrap="square" lIns="64008" rIns="64008" tIns="64008" bIns="64008" anchor="ctr"/>
          <a:lstStyle/>
          <a:p>
            <a:pPr algn="ctr"/>
            <a:r>
              <a:rPr lang="ru-RU" sz="1400" b="1" i="0">
                <a:solidFill>
                  <a:srgbClr val="FFFFFF"/>
                </a:solidFill>
                <a:latin typeface="Arial"/>
              </a:rPr>
              <a:t xml:space="preserve">Вывод</a:t>
            </a:r>
            <a:endParaRPr lang="ru-RU" sz="1400"/>
          </a:p>
        </p:txBody>
      </p:sp>
      <p:sp>
        <p:nvSpPr>
          <p:cNvPr id="14" name="Shape 14"/>
          <p:cNvSpPr/>
          <p:nvPr/>
        </p:nvSpPr>
        <p:spPr>
          <a:xfrm>
            <a:off x="594360" y="2267712"/>
            <a:ext cx="2971800" cy="6766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1" i="0">
                <a:solidFill>
                  <a:srgbClr val="17324D"/>
                </a:solidFill>
                <a:latin typeface="Arial"/>
              </a:rPr>
              <a:t xml:space="preserve">Покупатели</a:t>
            </a:r>
            <a:endParaRPr lang="ru-RU" sz="1400"/>
          </a:p>
        </p:txBody>
      </p:sp>
      <p:sp>
        <p:nvSpPr>
          <p:cNvPr id="15" name="Shape 15"/>
          <p:cNvSpPr/>
          <p:nvPr/>
        </p:nvSpPr>
        <p:spPr>
          <a:xfrm>
            <a:off x="3703320" y="2267712"/>
            <a:ext cx="1234440" cy="676656"/>
          </a:xfrm>
          <a:prstGeom prst="roundRect">
            <a:avLst/>
          </a:prstGeom>
          <a:solidFill>
            <a:srgbClr val="E7F2EF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>0,541</a:t>
            </a:r>
            <a:endParaRPr lang="ru-RU" sz="1400"/>
          </a:p>
        </p:txBody>
      </p:sp>
      <p:sp>
        <p:nvSpPr>
          <p:cNvPr id="16" name="Shape 16"/>
          <p:cNvSpPr/>
          <p:nvPr/>
        </p:nvSpPr>
        <p:spPr>
          <a:xfrm>
            <a:off x="5074920" y="2267712"/>
            <a:ext cx="1234440" cy="676656"/>
          </a:xfrm>
          <a:prstGeom prst="roundRect">
            <a:avLst/>
          </a:prstGeom>
          <a:solidFill>
            <a:srgbClr val="E7F2EF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>&lt; 0,001</a:t>
            </a:r>
            <a:endParaRPr lang="ru-RU" sz="1400"/>
          </a:p>
        </p:txBody>
      </p:sp>
      <p:sp>
        <p:nvSpPr>
          <p:cNvPr id="17" name="Shape 17"/>
          <p:cNvSpPr/>
          <p:nvPr/>
        </p:nvSpPr>
        <p:spPr>
          <a:xfrm>
            <a:off x="6400800" y="2267712"/>
            <a:ext cx="1737360" cy="676656"/>
          </a:xfrm>
          <a:prstGeom prst="roundRect">
            <a:avLst/>
          </a:prstGeom>
          <a:solidFill>
            <a:srgbClr val="E7F2EF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>[0,419; 0,662]</a:t>
            </a:r>
            <a:endParaRPr lang="ru-RU" sz="1400"/>
          </a:p>
        </p:txBody>
      </p:sp>
      <p:sp>
        <p:nvSpPr>
          <p:cNvPr id="18" name="Shape 18"/>
          <p:cNvSpPr/>
          <p:nvPr/>
        </p:nvSpPr>
        <p:spPr>
          <a:xfrm>
            <a:off x="8229600" y="2267712"/>
            <a:ext cx="2560320" cy="676656"/>
          </a:xfrm>
          <a:prstGeom prst="roundRect">
            <a:avLst/>
          </a:prstGeom>
          <a:solidFill>
            <a:srgbClr val="E7F2EF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1" i="0">
                <a:solidFill>
                  <a:srgbClr val="1E2933"/>
                </a:solidFill>
                <a:latin typeface="Arial"/>
              </a:rPr>
              <a:t xml:space="preserve">Значим</a:t>
            </a:r>
            <a:endParaRPr lang="ru-RU" sz="1400"/>
          </a:p>
        </p:txBody>
      </p:sp>
      <p:sp>
        <p:nvSpPr>
          <p:cNvPr id="19" name="Shape 19"/>
          <p:cNvSpPr/>
          <p:nvPr/>
        </p:nvSpPr>
        <p:spPr>
          <a:xfrm>
            <a:off x="594360" y="3108960"/>
            <a:ext cx="2971800" cy="6766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1" i="0">
                <a:solidFill>
                  <a:srgbClr val="17324D"/>
                </a:solidFill>
                <a:latin typeface="Arial"/>
              </a:rPr>
              <a:t xml:space="preserve">Цена конкурента</a:t>
            </a:r>
            <a:endParaRPr lang="ru-RU" sz="1400"/>
          </a:p>
        </p:txBody>
      </p:sp>
      <p:sp>
        <p:nvSpPr>
          <p:cNvPr id="20" name="Shape 20"/>
          <p:cNvSpPr/>
          <p:nvPr/>
        </p:nvSpPr>
        <p:spPr>
          <a:xfrm>
            <a:off x="3703320" y="3108960"/>
            <a:ext cx="1234440" cy="676656"/>
          </a:xfrm>
          <a:prstGeom prst="roundRect">
            <a:avLst/>
          </a:prstGeom>
          <a:solidFill>
            <a:srgbClr val="E7F2EF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>0,526</a:t>
            </a:r>
            <a:endParaRPr lang="ru-RU" sz="1400"/>
          </a:p>
        </p:txBody>
      </p:sp>
      <p:sp>
        <p:nvSpPr>
          <p:cNvPr id="21" name="Shape 21"/>
          <p:cNvSpPr/>
          <p:nvPr/>
        </p:nvSpPr>
        <p:spPr>
          <a:xfrm>
            <a:off x="5074920" y="3108960"/>
            <a:ext cx="1234440" cy="676656"/>
          </a:xfrm>
          <a:prstGeom prst="roundRect">
            <a:avLst/>
          </a:prstGeom>
          <a:solidFill>
            <a:srgbClr val="E7F2EF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>0,00048</a:t>
            </a:r>
            <a:endParaRPr lang="ru-RU" sz="1400"/>
          </a:p>
        </p:txBody>
      </p:sp>
      <p:sp>
        <p:nvSpPr>
          <p:cNvPr id="22" name="Shape 22"/>
          <p:cNvSpPr/>
          <p:nvPr/>
        </p:nvSpPr>
        <p:spPr>
          <a:xfrm>
            <a:off x="6400800" y="3108960"/>
            <a:ext cx="1737360" cy="676656"/>
          </a:xfrm>
          <a:prstGeom prst="roundRect">
            <a:avLst/>
          </a:prstGeom>
          <a:solidFill>
            <a:srgbClr val="E7F2EF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>[0,243; 0,809]</a:t>
            </a:r>
            <a:endParaRPr lang="ru-RU" sz="1400"/>
          </a:p>
        </p:txBody>
      </p:sp>
      <p:sp>
        <p:nvSpPr>
          <p:cNvPr id="23" name="Shape 23"/>
          <p:cNvSpPr/>
          <p:nvPr/>
        </p:nvSpPr>
        <p:spPr>
          <a:xfrm>
            <a:off x="8229600" y="3108960"/>
            <a:ext cx="2560320" cy="676656"/>
          </a:xfrm>
          <a:prstGeom prst="roundRect">
            <a:avLst/>
          </a:prstGeom>
          <a:solidFill>
            <a:srgbClr val="E7F2EF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1" i="0">
                <a:solidFill>
                  <a:srgbClr val="1E2933"/>
                </a:solidFill>
                <a:latin typeface="Arial"/>
              </a:rPr>
              <a:t xml:space="preserve">Значим</a:t>
            </a:r>
            <a:endParaRPr lang="ru-RU" sz="1400"/>
          </a:p>
        </p:txBody>
      </p:sp>
      <p:sp>
        <p:nvSpPr>
          <p:cNvPr id="24" name="Shape 24"/>
          <p:cNvSpPr/>
          <p:nvPr/>
        </p:nvSpPr>
        <p:spPr>
          <a:xfrm>
            <a:off x="594360" y="3950208"/>
            <a:ext cx="2971800" cy="67665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1" i="0">
                <a:solidFill>
                  <a:srgbClr val="17324D"/>
                </a:solidFill>
                <a:latin typeface="Arial"/>
              </a:rPr>
              <a:t xml:space="preserve">Вес товара</a:t>
            </a:r>
            <a:endParaRPr lang="ru-RU" sz="1400"/>
          </a:p>
        </p:txBody>
      </p:sp>
      <p:sp>
        <p:nvSpPr>
          <p:cNvPr id="25" name="Shape 25"/>
          <p:cNvSpPr/>
          <p:nvPr/>
        </p:nvSpPr>
        <p:spPr>
          <a:xfrm>
            <a:off x="3703320" y="3950208"/>
            <a:ext cx="1234440" cy="676656"/>
          </a:xfrm>
          <a:prstGeom prst="roundRect">
            <a:avLst/>
          </a:prstGeom>
          <a:solidFill>
            <a:srgbClr val="F5EAEA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>0,126</a:t>
            </a:r>
            <a:endParaRPr lang="ru-RU" sz="1400"/>
          </a:p>
        </p:txBody>
      </p:sp>
      <p:sp>
        <p:nvSpPr>
          <p:cNvPr id="26" name="Shape 26"/>
          <p:cNvSpPr/>
          <p:nvPr/>
        </p:nvSpPr>
        <p:spPr>
          <a:xfrm>
            <a:off x="5074920" y="3950208"/>
            <a:ext cx="1234440" cy="676656"/>
          </a:xfrm>
          <a:prstGeom prst="roundRect">
            <a:avLst/>
          </a:prstGeom>
          <a:solidFill>
            <a:srgbClr val="F5EAEA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>0,090</a:t>
            </a:r>
            <a:endParaRPr lang="ru-RU" sz="1400"/>
          </a:p>
        </p:txBody>
      </p:sp>
      <p:sp>
        <p:nvSpPr>
          <p:cNvPr id="27" name="Shape 27"/>
          <p:cNvSpPr/>
          <p:nvPr/>
        </p:nvSpPr>
        <p:spPr>
          <a:xfrm>
            <a:off x="6400800" y="3950208"/>
            <a:ext cx="1737360" cy="676656"/>
          </a:xfrm>
          <a:prstGeom prst="roundRect">
            <a:avLst/>
          </a:prstGeom>
          <a:solidFill>
            <a:srgbClr val="F5EAEA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0" i="0">
                <a:solidFill>
                  <a:srgbClr val="1E2933"/>
                </a:solidFill>
                <a:latin typeface="Arial"/>
              </a:rPr>
              <a:t xml:space="preserve">[−0,020; 0,272]</a:t>
            </a:r>
            <a:endParaRPr lang="ru-RU" sz="1400"/>
          </a:p>
        </p:txBody>
      </p:sp>
      <p:sp>
        <p:nvSpPr>
          <p:cNvPr id="28" name="Shape 28"/>
          <p:cNvSpPr/>
          <p:nvPr/>
        </p:nvSpPr>
        <p:spPr>
          <a:xfrm>
            <a:off x="8229600" y="3950208"/>
            <a:ext cx="2560320" cy="676656"/>
          </a:xfrm>
          <a:prstGeom prst="roundRect">
            <a:avLst/>
          </a:prstGeom>
          <a:solidFill>
            <a:srgbClr val="F5EAEA"/>
          </a:solidFill>
          <a:ln>
            <a:noFill/>
          </a:ln>
        </p:spPr>
        <p:txBody>
          <a:bodyPr wrap="square" lIns="54864" rIns="54864" tIns="54864" bIns="54864" anchor="ctr"/>
          <a:lstStyle/>
          <a:p>
            <a:pPr algn="ctr"/>
            <a:r>
              <a:rPr lang="ru-RU" sz="1400" b="1" i="0">
                <a:solidFill>
                  <a:srgbClr val="1E2933"/>
                </a:solidFill>
                <a:latin typeface="Arial"/>
              </a:rPr>
              <a:t xml:space="preserve">Не значим</a:t>
            </a:r>
            <a:endParaRPr lang="ru-RU" sz="1400"/>
          </a:p>
        </p:txBody>
      </p:sp>
      <p:sp>
        <p:nvSpPr>
          <p:cNvPr id="31" name="Shape 31"/>
          <p:cNvSpPr/>
          <p:nvPr/>
        </p:nvSpPr>
        <p:spPr>
          <a:xfrm>
            <a:off x="713232" y="5010912"/>
            <a:ext cx="10698480" cy="38404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600" b="1" i="0">
                <a:solidFill>
                  <a:srgbClr val="2F8F83"/>
                </a:solidFill>
                <a:latin typeface="Arial"/>
              </a:rPr>
              <a:t xml:space="preserve">Общий тест: F(3, 51) = 46,45; p &lt; 0,001 — модель значима в целом.</a:t>
            </a:r>
            <a:endParaRPr lang="ru-RU" sz="1600"/>
          </a:p>
        </p:txBody>
      </p:sp>
      <p:sp>
        <p:nvSpPr>
          <p:cNvPr id="33" name="Shape 33"/>
          <p:cNvSpPr/>
          <p:nvPr/>
        </p:nvSpPr>
        <p:spPr>
          <a:xfrm>
            <a:off x="713232" y="5404104"/>
            <a:ext cx="10698480" cy="347472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400" b="1" i="0">
                <a:solidFill>
                  <a:srgbClr val="B65050"/>
                </a:solidFill>
                <a:latin typeface="Arial"/>
              </a:rPr>
              <a:t xml:space="preserve">Для веса интервал включает ноль: значимость на уровне 5% не подтверждена.</a:t>
            </a:r>
            <a:endParaRPr lang="ru-RU" sz="1400"/>
          </a:p>
        </p:txBody>
      </p:sp>
      <p:sp>
        <p:nvSpPr>
          <p:cNvPr id="32" name="Shape 32"/>
          <p:cNvSpPr/>
          <p:nvPr/>
        </p:nvSpPr>
        <p:spPr>
          <a:xfrm>
            <a:off x="713232" y="5797296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200" b="0" i="0">
                <a:solidFill>
                  <a:srgbClr val="526575"/>
                </a:solidFill>
                <a:latin typeface="Arial"/>
              </a:rPr>
              <a:t xml:space="preserve">Число покупателей: +1% связано примерно с +0,54% цены. Цена конкурента: +1% связана примерно с +0,53% цены.</a:t>
            </a:r>
            <a:endParaRPr lang="ru-RU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2920" y="228600"/>
            <a:ext cx="11064240" cy="29260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000" b="1" i="0">
                <a:solidFill>
                  <a:srgbClr val="2F8F83"/>
                </a:solidFill>
                <a:latin typeface="Arial"/>
              </a:rPr>
              <a:t xml:space="preserve">КАЧЕСТВО И ВИЗУАЛЬНЫЕ ПРОВЕРКИ</a:t>
            </a:r>
            <a:endParaRPr lang="ru-RU" sz="1000"/>
          </a:p>
        </p:txBody>
      </p:sp>
      <p:sp>
        <p:nvSpPr>
          <p:cNvPr id="3" name="Shape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2700" b="1" i="0">
                <a:solidFill>
                  <a:srgbClr val="17324D"/>
                </a:solidFill>
                <a:latin typeface="Arial"/>
              </a:rPr>
              <a:t xml:space="preserve">Графики: коэффициенты и остатки</a:t>
            </a:r>
            <a:endParaRPr lang="ru-RU" sz="2700"/>
          </a:p>
        </p:txBody>
      </p:sp>
      <p:sp>
        <p:nvSpPr>
          <p:cNvPr id="4" name="Shape 4"/>
          <p:cNvSpPr/>
          <p:nvPr/>
        </p:nvSpPr>
        <p:spPr>
          <a:xfrm>
            <a:off x="502920" y="6473952"/>
            <a:ext cx="10332720" cy="18288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900" b="0" i="0">
                <a:solidFill>
                  <a:srgbClr val="526575"/>
                </a:solidFill>
                <a:latin typeface="Arial"/>
              </a:rPr>
              <a:t xml:space="preserve">Курсовая работа · анализ Retail Price</a:t>
            </a:r>
            <a:endParaRPr lang="ru-RU" sz="900"/>
          </a:p>
        </p:txBody>
      </p:sp>
      <p:sp>
        <p:nvSpPr>
          <p:cNvPr id="5" name="Shape 5"/>
          <p:cNvSpPr/>
          <p:nvPr/>
        </p:nvSpPr>
        <p:spPr>
          <a:xfrm>
            <a:off x="11137392" y="641908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r"/>
            <a:r>
              <a:rPr lang="ru-RU" sz="1000" b="1" i="0">
                <a:solidFill>
                  <a:srgbClr val="2F8F83"/>
                </a:solidFill>
                <a:latin typeface="Arial"/>
              </a:rPr>
              <a:t xml:space="preserve">05</a:t>
            </a:r>
            <a:endParaRPr lang="ru-RU" sz="1000"/>
          </a:p>
        </p:txBody>
      </p:sp>
      <p:sp>
        <p:nvSpPr>
          <p:cNvPr id="6" name="Shape 6"/>
          <p:cNvSpPr/>
          <p:nvPr/>
        </p:nvSpPr>
        <p:spPr>
          <a:xfrm>
            <a:off x="502920" y="1207008"/>
            <a:ext cx="11155680" cy="22860"/>
          </a:xfrm>
          <a:prstGeom prst="rect">
            <a:avLst/>
          </a:prstGeom>
          <a:solidFill>
            <a:srgbClr val="2F8F83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00" b="0" i="0">
                <a:solidFill>
                  <a:srgbClr val="1E2933"/>
                </a:solidFill>
                <a:latin typeface="Arial"/>
              </a:rPr>
              <a:t xml:space="preserve"/>
            </a:r>
            <a:endParaRPr lang="ru-RU" sz="100"/>
          </a:p>
        </p:txBody>
      </p:sp>
      <p:pic>
        <p:nvPicPr>
          <p:cNvPr id="7" name="Residual pl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89888"/>
            <a:ext cx="5559552" cy="3767328"/>
          </a:xfrm>
          <a:prstGeom prst="rect">
            <a:avLst/>
          </a:prstGeom>
        </p:spPr>
      </p:pic>
      <p:pic>
        <p:nvPicPr>
          <p:cNvPr id="8" name="Residual pl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389888"/>
            <a:ext cx="5559552" cy="3767328"/>
          </a:xfrm>
          <a:prstGeom prst="rect">
            <a:avLst/>
          </a:prstGeom>
        </p:spPr>
      </p:pic>
      <p:sp>
        <p:nvSpPr>
          <p:cNvPr id="9" name="Shape 9"/>
          <p:cNvSpPr/>
          <p:nvPr/>
        </p:nvSpPr>
        <p:spPr>
          <a:xfrm>
            <a:off x="658368" y="5321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ctr"/>
            <a:r>
              <a:rPr lang="ru-RU" sz="1500" b="0" i="0">
                <a:solidFill>
                  <a:srgbClr val="1E2933"/>
                </a:solidFill>
                <a:latin typeface="Arial"/>
              </a:rPr>
              <a:t xml:space="preserve">Слева: интервалы двух коэффициентов не включают ноль, у веса включают.</a:t>
            </a:r>
            <a:endParaRPr lang="ru-RU" sz="1500"/>
          </a:p>
          <a:p>
            <a:pPr algn="ctr"/>
            <a:r>
              <a:rPr lang="ru-RU" sz="1500" b="0" i="0">
                <a:solidFill>
                  <a:srgbClr val="1E2933"/>
                </a:solidFill>
                <a:latin typeface="Arial"/>
              </a:rPr>
              <a:t xml:space="preserve">Справа: остатки имеют неодинаковый разброс. R² = 0,257.</a:t>
            </a:r>
            <a:endParaRPr lang="ru-RU" sz="15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2920" y="228600"/>
            <a:ext cx="11064240" cy="29260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000" b="1" i="0">
                <a:solidFill>
                  <a:srgbClr val="2F8F83"/>
                </a:solidFill>
                <a:latin typeface="Arial"/>
              </a:rPr>
              <a:t xml:space="preserve">ИТОГ</a:t>
            </a:r>
            <a:endParaRPr lang="ru-RU" sz="1000"/>
          </a:p>
        </p:txBody>
      </p:sp>
      <p:sp>
        <p:nvSpPr>
          <p:cNvPr id="3" name="Shape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2700" b="1" i="0">
                <a:solidFill>
                  <a:srgbClr val="17324D"/>
                </a:solidFill>
                <a:latin typeface="Arial"/>
              </a:rPr>
              <a:t xml:space="preserve">Вывод и ограничения</a:t>
            </a:r>
            <a:endParaRPr lang="ru-RU" sz="2700"/>
          </a:p>
        </p:txBody>
      </p:sp>
      <p:sp>
        <p:nvSpPr>
          <p:cNvPr id="4" name="Shape 4"/>
          <p:cNvSpPr/>
          <p:nvPr/>
        </p:nvSpPr>
        <p:spPr>
          <a:xfrm>
            <a:off x="502920" y="6473952"/>
            <a:ext cx="10332720" cy="18288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900" b="0" i="0">
                <a:solidFill>
                  <a:srgbClr val="526575"/>
                </a:solidFill>
                <a:latin typeface="Arial"/>
              </a:rPr>
              <a:t xml:space="preserve">Курсовая работа · анализ Retail Price</a:t>
            </a:r>
            <a:endParaRPr lang="ru-RU" sz="900"/>
          </a:p>
        </p:txBody>
      </p:sp>
      <p:sp>
        <p:nvSpPr>
          <p:cNvPr id="5" name="Shape 5"/>
          <p:cNvSpPr/>
          <p:nvPr/>
        </p:nvSpPr>
        <p:spPr>
          <a:xfrm>
            <a:off x="11137392" y="641908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r"/>
            <a:r>
              <a:rPr lang="ru-RU" sz="1000" b="1" i="0">
                <a:solidFill>
                  <a:srgbClr val="2F8F83"/>
                </a:solidFill>
                <a:latin typeface="Arial"/>
              </a:rPr>
              <a:t xml:space="preserve">06</a:t>
            </a:r>
            <a:endParaRPr lang="ru-RU" sz="1000"/>
          </a:p>
        </p:txBody>
      </p:sp>
      <p:sp>
        <p:nvSpPr>
          <p:cNvPr id="6" name="Shape 6"/>
          <p:cNvSpPr/>
          <p:nvPr/>
        </p:nvSpPr>
        <p:spPr>
          <a:xfrm>
            <a:off x="502920" y="1207008"/>
            <a:ext cx="11155680" cy="22860"/>
          </a:xfrm>
          <a:prstGeom prst="rect">
            <a:avLst/>
          </a:prstGeom>
          <a:solidFill>
            <a:srgbClr val="2F8F83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00" b="0" i="0">
                <a:solidFill>
                  <a:srgbClr val="1E2933"/>
                </a:solidFill>
                <a:latin typeface="Arial"/>
              </a:rPr>
              <a:t xml:space="preserve"/>
            </a:r>
            <a:endParaRPr lang="ru-RU" sz="100"/>
          </a:p>
        </p:txBody>
      </p:sp>
      <p:sp>
        <p:nvSpPr>
          <p:cNvPr id="7" name="Shape 7"/>
          <p:cNvSpPr/>
          <p:nvPr/>
        </p:nvSpPr>
        <p:spPr>
          <a:xfrm>
            <a:off x="658368" y="1426464"/>
            <a:ext cx="10835640" cy="841248"/>
          </a:xfrm>
          <a:prstGeom prst="roundRect">
            <a:avLst/>
          </a:prstGeom>
          <a:solidFill>
            <a:srgbClr val="2F8F83"/>
          </a:solidFill>
          <a:ln>
            <a:noFill/>
          </a:ln>
        </p:spPr>
        <p:txBody>
          <a:bodyPr wrap="square" lIns="201168" rIns="201168" tIns="201168" bIns="201168" anchor="ctr"/>
          <a:lstStyle/>
          <a:p>
            <a:pPr algn="ctr"/>
            <a:r>
              <a:rPr lang="ru-RU" sz="2100" b="1" i="0">
                <a:solidFill>
                  <a:srgbClr val="FFFFFF"/>
                </a:solidFill>
                <a:latin typeface="Arial"/>
              </a:rPr>
              <a:t xml:space="preserve">В выборке значимая положительная связь обнаружена для числа покупателей и цены конкурента.</a:t>
            </a:r>
            <a:endParaRPr lang="ru-RU" sz="2100"/>
          </a:p>
        </p:txBody>
      </p:sp>
      <p:sp>
        <p:nvSpPr>
          <p:cNvPr id="8" name="Shape 8"/>
          <p:cNvSpPr/>
          <p:nvPr/>
        </p:nvSpPr>
        <p:spPr>
          <a:xfrm>
            <a:off x="786384" y="2633472"/>
            <a:ext cx="5212080" cy="384048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l"/>
            <a:r>
              <a:rPr lang="ru-RU" sz="1800" b="1" i="0">
                <a:solidFill>
                  <a:srgbClr val="17324D"/>
                </a:solidFill>
                <a:latin typeface="Arial"/>
              </a:rPr>
              <a:t xml:space="preserve">Что важно помнить</a:t>
            </a:r>
            <a:endParaRPr lang="ru-RU" sz="1800"/>
          </a:p>
        </p:txBody>
      </p:sp>
      <p:sp>
        <p:nvSpPr>
          <p:cNvPr id="9" name="Shape 9"/>
          <p:cNvSpPr/>
          <p:nvPr/>
        </p:nvSpPr>
        <p:spPr>
          <a:xfrm>
            <a:off x="914400" y="3090672"/>
            <a:ext cx="10424160" cy="150876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t"/>
          <a:lstStyle/>
          <a:p>
            <a:pPr algn="l"/>
            <a:r>
              <a:rPr lang="ru-RU" sz="1700" b="0" i="0">
                <a:solidFill>
                  <a:srgbClr val="1E2933"/>
                </a:solidFill>
                <a:latin typeface="Arial"/>
              </a:rPr>
              <a:t xml:space="preserve">• Это статистические связи, не доказательство причинности.</a:t>
            </a:r>
            <a:endParaRPr lang="ru-RU" sz="1700"/>
          </a:p>
          <a:p>
            <a:pPr algn="l"/>
            <a:r>
              <a:rPr lang="ru-RU" sz="1700" b="0" i="0">
                <a:solidFill>
                  <a:srgbClr val="1E2933"/>
                </a:solidFill>
                <a:latin typeface="Arial"/>
              </a:rPr>
              <a:t xml:space="preserve">• В модель вошли только три признака.</a:t>
            </a:r>
            <a:endParaRPr lang="ru-RU" sz="1700"/>
          </a:p>
          <a:p>
            <a:pPr algn="l"/>
            <a:r>
              <a:rPr lang="ru-RU" sz="1700" b="0" i="0">
                <a:solidFill>
                  <a:srgbClr val="1E2933"/>
                </a:solidFill>
                <a:latin typeface="Arial"/>
              </a:rPr>
              <a:t xml:space="preserve">• Данные охватывают 52 товара и период 2017–2018 годов.</a:t>
            </a:r>
            <a:endParaRPr lang="ru-RU" sz="1700"/>
          </a:p>
          <a:p>
            <a:pPr algn="l"/>
            <a:r>
              <a:rPr lang="ru-RU" sz="1700" b="0" i="0">
                <a:solidFill>
                  <a:srgbClr val="1E2933"/>
                </a:solidFill>
                <a:latin typeface="Arial"/>
              </a:rPr>
              <a:t xml:space="preserve">• Кластерные ошибки учитывают повторы товара, но не заменяют модель индивидуальных эффектов.</a:t>
            </a:r>
            <a:endParaRPr lang="ru-RU" sz="1700"/>
          </a:p>
        </p:txBody>
      </p:sp>
      <p:sp>
        <p:nvSpPr>
          <p:cNvPr id="10" name="Shape 10"/>
          <p:cNvSpPr/>
          <p:nvPr/>
        </p:nvSpPr>
        <p:spPr>
          <a:xfrm>
            <a:off x="731520" y="5230368"/>
            <a:ext cx="10607040" cy="694944"/>
          </a:xfrm>
          <a:prstGeom prst="roundRect">
            <a:avLst/>
          </a:prstGeom>
          <a:solidFill>
            <a:srgbClr val="E7B85B"/>
          </a:solidFill>
          <a:ln>
            <a:noFill/>
          </a:ln>
        </p:spPr>
        <p:txBody>
          <a:bodyPr wrap="square" lIns="182880" rIns="182880" tIns="182880" bIns="182880" anchor="ctr"/>
          <a:lstStyle/>
          <a:p>
            <a:pPr algn="ctr"/>
            <a:r>
              <a:rPr lang="ru-RU" sz="1700" b="1" i="0">
                <a:solidFill>
                  <a:srgbClr val="17324D"/>
                </a:solidFill>
                <a:latin typeface="Arial"/>
              </a:rPr>
              <a:t xml:space="preserve">Ответ: наиболее ясные связи с общей ценой в этой модели показали число покупателей и цена конкурента.</a:t>
            </a:r>
            <a:endParaRPr lang="ru-RU" sz="1700"/>
          </a:p>
        </p:txBody>
      </p:sp>
      <p:sp>
        <p:nvSpPr>
          <p:cNvPr id="11" name="Shape 11"/>
          <p:cNvSpPr/>
          <p:nvPr/>
        </p:nvSpPr>
        <p:spPr>
          <a:xfrm>
            <a:off x="749808" y="6053328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wrap="square" lIns="109728" rIns="109728" tIns="109728" bIns="109728" anchor="ctr"/>
          <a:lstStyle/>
          <a:p>
            <a:pPr algn="ctr"/>
            <a:r>
              <a:rPr lang="ru-RU" sz="1500" b="1" i="0">
                <a:solidFill>
                  <a:srgbClr val="2F8F83"/>
                </a:solidFill>
                <a:latin typeface="Arial"/>
              </a:rPr>
              <a:t xml:space="preserve">Спасибо за внимание</a:t>
            </a:r>
            <a:endParaRPr lang="ru-RU" sz="1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ursework">
  <a:themeElements>
    <a:clrScheme name="Coursework">
      <a:dk1>
        <a:srgbClr val="17324D"/>
      </a:dk1>
      <a:lt1>
        <a:srgbClr val="FFFFFF"/>
      </a:lt1>
      <a:dk2>
        <a:srgbClr val="1E2933"/>
      </a:dk2>
      <a:lt2>
        <a:srgbClr val="F3F7FA"/>
      </a:lt2>
      <a:accent1>
        <a:srgbClr val="2F8F83"/>
      </a:accent1>
      <a:accent2>
        <a:srgbClr val="E7B85B"/>
      </a:accent2>
      <a:accent3>
        <a:srgbClr val="B65050"/>
      </a:accent3>
      <a:accent4>
        <a:srgbClr val="526575"/>
      </a:accent4>
      <a:accent5>
        <a:srgbClr val="D8E5EB"/>
      </a:accent5>
      <a:accent6>
        <a:srgbClr val="8BB7AD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oursewor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