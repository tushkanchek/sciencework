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  <p:defaultTextStyle>
    <a:defPPr>
      <a:defRPr lang="ru-RU"/>
    </a:def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image" Target="../media/kfu_seal_white.png"/><Relationship Id="rId3" Type="http://schemas.openxmlformats.org/officeDocument/2006/relationships/image" Target="../media/institute_mark_white.png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image" Target="../media/reference_sidebar.png"/><Relationship Id="rId3" Type="http://schemas.openxmlformats.org/officeDocument/2006/relationships/image" Target="../media/image_price_distribution.png"/><Relationship Id="rId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image" Target="../media/reference_sidebar.png"/><Relationship Id="rId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image" Target="../media/reference_sidebar.png"/><Relationship Id="rI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image" Target="../media/reference_sidebar.png"/><Relationship Id="rId3" Type="http://schemas.openxmlformats.org/officeDocument/2006/relationships/image" Target="../media/image_coefficients.png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image" Target="../media/reference_sidebar.png"/><Relationship Id="rId3" Type="http://schemas.openxmlformats.org/officeDocument/2006/relationships/image" Target="../media/image_residuals.png"/><Relationship Id="rId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image" Target="../media/kfu_seal_white.png"/><Relationship Id="rId3" Type="http://schemas.openxmlformats.org/officeDocument/2006/relationships/image" Target="../media/institute_mark_white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watermark integral"/>
          <p:cNvSpPr txBox="1"/>
          <p:nvPr/>
        </p:nvSpPr>
        <p:spPr>
          <a:xfrm>
            <a:off x="411480" y="1234440"/>
            <a:ext cx="4937760" cy="5029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40000" b="0">
                <a:solidFill>
                  <a:srgbClr val="2479B7">
                    <a:alpha val="25000"/>
                  </a:srgbClr>
                </a:solidFill>
                <a:latin typeface="Times New Roman"/>
                <a:ea typeface="Times New Roman"/>
                <a:cs typeface="Times New Roman"/>
              </a:rPr>
              <a:t xml:space="preserve">∫</a:t>
            </a:r>
            <a:endParaRPr lang="ru-RU" sz="40000"/>
          </a:p>
        </p:txBody>
      </p:sp>
      <p:sp>
        <p:nvSpPr>
          <p:cNvPr id="3" name="Cover watermark R squared"/>
          <p:cNvSpPr txBox="1"/>
          <p:nvPr/>
        </p:nvSpPr>
        <p:spPr>
          <a:xfrm>
            <a:off x="6720840" y="1508760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25000" b="0">
                <a:solidFill>
                  <a:srgbClr val="2479B7">
                    <a:alpha val="26000"/>
                  </a:srgbClr>
                </a:solidFill>
                <a:latin typeface="Times New Roman"/>
                <a:ea typeface="Times New Roman"/>
                <a:cs typeface="Times New Roman"/>
              </a:rPr>
              <a:t xml:space="preserve">R²</a:t>
            </a:r>
            <a:endParaRPr lang="ru-RU" sz="25000"/>
          </a:p>
        </p:txBody>
      </p:sp>
      <p:pic>
        <p:nvPicPr>
          <p:cNvPr id="4" name="KFU s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52" y="438912"/>
            <a:ext cx="1163495" cy="1234440"/>
          </a:xfrm>
          <a:prstGeom prst="rect">
            <a:avLst/>
          </a:prstGeom>
        </p:spPr>
      </p:pic>
      <p:sp>
        <p:nvSpPr>
          <p:cNvPr id="5" name="Cover logo divider"/>
          <p:cNvSpPr/>
          <p:nvPr/>
        </p:nvSpPr>
        <p:spPr>
          <a:xfrm>
            <a:off x="5925312" y="530352"/>
            <a:ext cx="18288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6" name="Institute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521096"/>
            <a:ext cx="1298448" cy="1060927"/>
          </a:xfrm>
          <a:prstGeom prst="rect">
            <a:avLst/>
          </a:prstGeom>
        </p:spPr>
      </p:pic>
      <p:sp>
        <p:nvSpPr>
          <p:cNvPr id="7" name="Cover separator"/>
          <p:cNvSpPr/>
          <p:nvPr/>
        </p:nvSpPr>
        <p:spPr>
          <a:xfrm>
            <a:off x="2633472" y="2706624"/>
            <a:ext cx="6931152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Presentation title"/>
          <p:cNvSpPr txBox="1"/>
          <p:nvPr/>
        </p:nvSpPr>
        <p:spPr>
          <a:xfrm>
            <a:off x="1005840" y="3035808"/>
            <a:ext cx="10195560" cy="94183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25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Линейная регрессия для анализа факторов,</a:t>
            </a:r>
            <a:endParaRPr lang="ru-RU" sz="2500"/>
          </a:p>
          <a:p>
            <a:pPr algn="ctr"/>
            <a:r>
              <a:rPr lang="ru-RU" sz="25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связанных с ценой товара</a:t>
            </a:r>
            <a:endParaRPr lang="ru-RU" sz="2500"/>
          </a:p>
        </p:txBody>
      </p:sp>
      <p:sp>
        <p:nvSpPr>
          <p:cNvPr id="9" name="Research question"/>
          <p:cNvSpPr txBox="1"/>
          <p:nvPr/>
        </p:nvSpPr>
        <p:spPr>
          <a:xfrm>
            <a:off x="1371600" y="4224528"/>
            <a:ext cx="9418320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Сравнение трёх цен конкурентов отдельно</a:t>
            </a:r>
            <a:endParaRPr lang="ru-RU" sz="1700"/>
          </a:p>
          <a:p>
            <a:pPr algn="ctr"/>
            <a:r>
              <a:rPr lang="ru-RU"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и в одной множественной модели</a:t>
            </a:r>
            <a:endParaRPr lang="ru-RU" sz="1700"/>
          </a:p>
        </p:txBody>
      </p:sp>
      <p:sp>
        <p:nvSpPr>
          <p:cNvPr id="10" name="Author"/>
          <p:cNvSpPr txBox="1"/>
          <p:nvPr/>
        </p:nvSpPr>
        <p:spPr>
          <a:xfrm>
            <a:off x="1097280" y="5998464"/>
            <a:ext cx="10012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Максим Кибардин  ·  группа 05-308  ·  Казань, 2026</a:t>
            </a:r>
            <a:endParaRPr lang="ru-RU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FU and institute side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" y="0"/>
            <a:ext cx="1105081" cy="6858000"/>
          </a:xfrm>
          <a:prstGeom prst="rect">
            <a:avLst/>
          </a:prstGeom>
        </p:spPr>
      </p:pic>
      <p:sp>
        <p:nvSpPr>
          <p:cNvPr id="3" name="Slide title"/>
          <p:cNvSpPr txBox="1"/>
          <p:nvPr/>
        </p:nvSpPr>
        <p:spPr>
          <a:xfrm>
            <a:off x="1188720" y="27432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>
            <a:noAutofit/>
          </a:bodyPr>
          <a:lstStyle/>
          <a:p>
            <a:pPr algn="l"/>
            <a:r>
              <a:rPr lang="ru-RU" sz="2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Данные набора Retail Price</a:t>
            </a:r>
            <a:endParaRPr lang="ru-RU" sz="2500"/>
          </a:p>
        </p:txBody>
      </p:sp>
      <p:sp>
        <p:nvSpPr>
          <p:cNvPr id="4" name="Data summary"/>
          <p:cNvSpPr txBox="1"/>
          <p:nvPr/>
        </p:nvSpPr>
        <p:spPr>
          <a:xfrm>
            <a:off x="1280160" y="777240"/>
            <a:ext cx="10287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676 наблюдений по 52 товарам · январь 2017 — август 2018</a:t>
            </a:r>
            <a:endParaRPr lang="ru-RU" sz="1600"/>
          </a:p>
        </p:txBody>
      </p:sp>
      <p:sp>
        <p:nvSpPr>
          <p:cNvPr id="5" name="Variables and summary statistics"/>
          <p:cNvSpPr txBox="1"/>
          <p:nvPr/>
        </p:nvSpPr>
        <p:spPr>
          <a:xfrm>
            <a:off x="1280160" y="1170432"/>
            <a:ext cx="10287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Средняя общая цена — 1 423; медиана — 808. Факторы: покупатели, вес и цены трёх конкурентов.</a:t>
            </a:r>
            <a:endParaRPr lang="ru-RU" sz="1400"/>
          </a:p>
        </p:txBody>
      </p:sp>
      <p:pic>
        <p:nvPicPr>
          <p:cNvPr id="6" name="Price 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725407"/>
            <a:ext cx="10424160" cy="4065554"/>
          </a:xfrm>
          <a:prstGeom prst="rect">
            <a:avLst/>
          </a:prstGeom>
        </p:spPr>
      </p:pic>
      <p:sp>
        <p:nvSpPr>
          <p:cNvPr id="7" name="Histogram caption"/>
          <p:cNvSpPr txBox="1"/>
          <p:nvPr/>
        </p:nvSpPr>
        <p:spPr>
          <a:xfrm>
            <a:off x="1371600" y="5961888"/>
            <a:ext cx="10104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13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Логарифмирование сжимает длинный правый хвост общей цены.</a:t>
            </a:r>
            <a:endParaRPr lang="ru-RU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FU and institute side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" y="0"/>
            <a:ext cx="1105081" cy="6858000"/>
          </a:xfrm>
          <a:prstGeom prst="rect">
            <a:avLst/>
          </a:prstGeom>
        </p:spPr>
      </p:pic>
      <p:sp>
        <p:nvSpPr>
          <p:cNvPr id="3" name="Slide title"/>
          <p:cNvSpPr txBox="1"/>
          <p:nvPr/>
        </p:nvSpPr>
        <p:spPr>
          <a:xfrm>
            <a:off x="1188720" y="27432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>
            <a:noAutofit/>
          </a:bodyPr>
          <a:lstStyle/>
          <a:p>
            <a:pPr algn="l"/>
            <a:r>
              <a:rPr lang="ru-RU" sz="2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Схема исследования</a:t>
            </a:r>
            <a:endParaRPr lang="ru-RU" sz="2500"/>
          </a:p>
        </p:txBody>
      </p:sp>
      <p:sp>
        <p:nvSpPr>
          <p:cNvPr id="4" name="Separate model heading"/>
          <p:cNvSpPr txBox="1"/>
          <p:nvPr/>
        </p:nvSpPr>
        <p:spPr>
          <a:xfrm>
            <a:off x="1298448" y="914400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Три модели по отдельности</a:t>
            </a:r>
            <a:endParaRPr lang="ru-RU" sz="1800"/>
          </a:p>
        </p:txBody>
      </p:sp>
      <p:sp>
        <p:nvSpPr>
          <p:cNvPr id="5" name="Separate model formula"/>
          <p:cNvSpPr txBox="1"/>
          <p:nvPr/>
        </p:nvSpPr>
        <p:spPr>
          <a:xfrm>
            <a:off x="1298448" y="1344168"/>
            <a:ext cx="4800600" cy="6126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Покупатели + вес + цена одного конкурента.</a:t>
            </a:r>
            <a:endParaRPr lang="ru-RU" sz="1350"/>
          </a:p>
          <a:p>
            <a:pPr algn="l"/>
            <a:r>
              <a:rPr lang="ru-RU"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ln(total_price) ~ ln(customers) + ln(comp_j) + ln(weight)</a:t>
            </a:r>
            <a:endParaRPr lang="ru-RU" sz="1350"/>
          </a:p>
        </p:txBody>
      </p:sp>
      <p:sp>
        <p:nvSpPr>
          <p:cNvPr id="6" name="Multiple model heading"/>
          <p:cNvSpPr txBox="1"/>
          <p:nvPr/>
        </p:nvSpPr>
        <p:spPr>
          <a:xfrm>
            <a:off x="6446520" y="914400"/>
            <a:ext cx="5074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Множественная модель</a:t>
            </a:r>
            <a:endParaRPr lang="ru-RU" sz="1800"/>
          </a:p>
        </p:txBody>
      </p:sp>
      <p:sp>
        <p:nvSpPr>
          <p:cNvPr id="7" name="Multiple model formula"/>
          <p:cNvSpPr txBox="1"/>
          <p:nvPr/>
        </p:nvSpPr>
        <p:spPr>
          <a:xfrm>
            <a:off x="6446520" y="1344168"/>
            <a:ext cx="5074920" cy="6126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Покупатели + вес + цены всех трёх конкурентов.</a:t>
            </a:r>
            <a:endParaRPr lang="ru-RU" sz="1400"/>
          </a:p>
          <a:p>
            <a:pPr algn="l"/>
            <a:r>
              <a:rPr lang="ru-RU" sz="1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Добавлены ln(comp_1), ln(comp_2) и ln(comp_3).</a:t>
            </a:r>
            <a:endParaRPr lang="ru-RU" sz="1400"/>
          </a:p>
        </p:txBody>
      </p:sp>
      <p:sp>
        <p:nvSpPr>
          <p:cNvPr id="8" name="Table separator"/>
          <p:cNvSpPr/>
          <p:nvPr/>
        </p:nvSpPr>
        <p:spPr>
          <a:xfrm>
            <a:off x="1280160" y="2176272"/>
            <a:ext cx="10378440" cy="10973"/>
          </a:xfrm>
          <a:prstGeom prst="rect">
            <a:avLst/>
          </a:prstGeom>
          <a:solidFill>
            <a:srgbClr val="B7C0C8"/>
          </a:solidFill>
          <a:ln>
            <a:noFill/>
          </a:ln>
        </p:spPr>
      </p:sp>
      <p:sp>
        <p:nvSpPr>
          <p:cNvPr id="9" name="Method row heading"/>
          <p:cNvSpPr txBox="1"/>
          <p:nvPr/>
        </p:nvSpPr>
        <p:spPr>
          <a:xfrm>
            <a:off x="1353312" y="2395728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Что сравниваю</a:t>
            </a:r>
            <a:endParaRPr lang="ru-RU" sz="1600"/>
          </a:p>
        </p:txBody>
      </p:sp>
      <p:sp>
        <p:nvSpPr>
          <p:cNvPr id="10" name="Method row description"/>
          <p:cNvSpPr txBox="1"/>
          <p:nvPr/>
        </p:nvSpPr>
        <p:spPr>
          <a:xfrm>
            <a:off x="3703320" y="2395728"/>
            <a:ext cx="77266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Скорректированный R² трёх отдельных моделей на одной выборке.</a:t>
            </a:r>
            <a:endParaRPr lang="ru-RU" sz="1500"/>
          </a:p>
        </p:txBody>
      </p:sp>
      <p:sp>
        <p:nvSpPr>
          <p:cNvPr id="11" name="Table separator"/>
          <p:cNvSpPr/>
          <p:nvPr/>
        </p:nvSpPr>
        <p:spPr>
          <a:xfrm>
            <a:off x="1280160" y="3108960"/>
            <a:ext cx="10378440" cy="10973"/>
          </a:xfrm>
          <a:prstGeom prst="rect">
            <a:avLst/>
          </a:prstGeom>
          <a:solidFill>
            <a:srgbClr val="B7C0C8"/>
          </a:solidFill>
          <a:ln>
            <a:noFill/>
          </a:ln>
        </p:spPr>
      </p:sp>
      <p:sp>
        <p:nvSpPr>
          <p:cNvPr id="12" name="Method row heading"/>
          <p:cNvSpPr txBox="1"/>
          <p:nvPr/>
        </p:nvSpPr>
        <p:spPr>
          <a:xfrm>
            <a:off x="1353312" y="3364992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Коэффициенты</a:t>
            </a:r>
            <a:endParaRPr lang="ru-RU" sz="1600"/>
          </a:p>
        </p:txBody>
      </p:sp>
      <p:sp>
        <p:nvSpPr>
          <p:cNvPr id="13" name="Method row description"/>
          <p:cNvSpPr txBox="1"/>
          <p:nvPr/>
        </p:nvSpPr>
        <p:spPr>
          <a:xfrm>
            <a:off x="3703320" y="3364992"/>
            <a:ext cx="77266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p-value и 95%-ные доверительные интервалы; ошибки сгруппированы по товару.</a:t>
            </a:r>
            <a:endParaRPr lang="ru-RU" sz="1500"/>
          </a:p>
        </p:txBody>
      </p:sp>
      <p:sp>
        <p:nvSpPr>
          <p:cNvPr id="14" name="Table separator"/>
          <p:cNvSpPr/>
          <p:nvPr/>
        </p:nvSpPr>
        <p:spPr>
          <a:xfrm>
            <a:off x="1280160" y="4078224"/>
            <a:ext cx="10378440" cy="10973"/>
          </a:xfrm>
          <a:prstGeom prst="rect">
            <a:avLst/>
          </a:prstGeom>
          <a:solidFill>
            <a:srgbClr val="B7C0C8"/>
          </a:solidFill>
          <a:ln>
            <a:noFill/>
          </a:ln>
        </p:spPr>
      </p:sp>
      <p:sp>
        <p:nvSpPr>
          <p:cNvPr id="15" name="Method row heading"/>
          <p:cNvSpPr txBox="1"/>
          <p:nvPr/>
        </p:nvSpPr>
        <p:spPr>
          <a:xfrm>
            <a:off x="1353312" y="4334256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Общий вклад</a:t>
            </a:r>
            <a:endParaRPr lang="ru-RU" sz="1600"/>
          </a:p>
        </p:txBody>
      </p:sp>
      <p:sp>
        <p:nvSpPr>
          <p:cNvPr id="16" name="Method row description"/>
          <p:cNvSpPr txBox="1"/>
          <p:nvPr/>
        </p:nvSpPr>
        <p:spPr>
          <a:xfrm>
            <a:off x="3703320" y="4334256"/>
            <a:ext cx="77266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Кластерный F-тест проверяет совместную значимость трёх цен конкурентов.</a:t>
            </a:r>
            <a:endParaRPr lang="ru-RU" sz="1500"/>
          </a:p>
        </p:txBody>
      </p:sp>
      <p:sp>
        <p:nvSpPr>
          <p:cNvPr id="17" name="Table separator"/>
          <p:cNvSpPr/>
          <p:nvPr/>
        </p:nvSpPr>
        <p:spPr>
          <a:xfrm>
            <a:off x="1280160" y="5047488"/>
            <a:ext cx="10378440" cy="10973"/>
          </a:xfrm>
          <a:prstGeom prst="rect">
            <a:avLst/>
          </a:prstGeom>
          <a:solidFill>
            <a:srgbClr val="B7C0C8"/>
          </a:solidFill>
          <a:ln>
            <a:noFill/>
          </a:ln>
        </p:spPr>
      </p:sp>
      <p:sp>
        <p:nvSpPr>
          <p:cNvPr id="18" name="Cluster note"/>
          <p:cNvSpPr txBox="1"/>
          <p:nvPr/>
        </p:nvSpPr>
        <p:spPr>
          <a:xfrm>
            <a:off x="1371600" y="55961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13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Во всех моделях одинаковые 676 наблюдений; ошибки кластеризованы по 52 товарам.</a:t>
            </a:r>
            <a:endParaRPr lang="ru-RU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FU and institute side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" y="0"/>
            <a:ext cx="1105081" cy="6858000"/>
          </a:xfrm>
          <a:prstGeom prst="rect">
            <a:avLst/>
          </a:prstGeom>
        </p:spPr>
      </p:pic>
      <p:sp>
        <p:nvSpPr>
          <p:cNvPr id="3" name="Slide title"/>
          <p:cNvSpPr txBox="1"/>
          <p:nvPr/>
        </p:nvSpPr>
        <p:spPr>
          <a:xfrm>
            <a:off x="1188720" y="27432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>
            <a:noAutofit/>
          </a:bodyPr>
          <a:lstStyle/>
          <a:p>
            <a:pPr algn="l"/>
            <a:r>
              <a:rPr lang="ru-RU" sz="2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Сравнение трёх отдельных моделей</a:t>
            </a:r>
            <a:endParaRPr lang="ru-RU" sz="2500"/>
          </a:p>
        </p:txBody>
      </p:sp>
      <p:sp>
        <p:nvSpPr>
          <p:cNvPr id="4" name="Comparison description"/>
          <p:cNvSpPr txBox="1"/>
          <p:nvPr/>
        </p:nvSpPr>
        <p:spPr>
          <a:xfrm>
            <a:off x="1298448" y="749808"/>
            <a:ext cx="10287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5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Во всех моделях учтены число покупателей и вес товара.</a:t>
            </a:r>
            <a:endParaRPr lang="ru-RU" sz="1500"/>
          </a:p>
        </p:txBody>
      </p:sp>
      <p:sp>
        <p:nvSpPr>
          <p:cNvPr id="5" name="Comparison table header"/>
          <p:cNvSpPr txBox="1"/>
          <p:nvPr/>
        </p:nvSpPr>
        <p:spPr>
          <a:xfrm>
            <a:off x="1298448" y="1371600"/>
            <a:ext cx="22128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Конкурент</a:t>
            </a:r>
            <a:endParaRPr lang="ru-RU" sz="1400"/>
          </a:p>
        </p:txBody>
      </p:sp>
      <p:sp>
        <p:nvSpPr>
          <p:cNvPr id="6" name="Comparison table header"/>
          <p:cNvSpPr txBox="1"/>
          <p:nvPr/>
        </p:nvSpPr>
        <p:spPr>
          <a:xfrm>
            <a:off x="3511296" y="137160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Коэффициент</a:t>
            </a:r>
            <a:endParaRPr lang="ru-RU" sz="1400"/>
          </a:p>
        </p:txBody>
      </p:sp>
      <p:sp>
        <p:nvSpPr>
          <p:cNvPr id="7" name="Comparison table header"/>
          <p:cNvSpPr txBox="1"/>
          <p:nvPr/>
        </p:nvSpPr>
        <p:spPr>
          <a:xfrm>
            <a:off x="5111496" y="13716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p-value</a:t>
            </a:r>
            <a:endParaRPr lang="ru-RU" sz="1400"/>
          </a:p>
        </p:txBody>
      </p:sp>
      <p:sp>
        <p:nvSpPr>
          <p:cNvPr id="8" name="Comparison table header"/>
          <p:cNvSpPr txBox="1"/>
          <p:nvPr/>
        </p:nvSpPr>
        <p:spPr>
          <a:xfrm>
            <a:off x="6665976" y="1371600"/>
            <a:ext cx="276148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95%-ный интервал</a:t>
            </a:r>
            <a:endParaRPr lang="ru-RU" sz="1400"/>
          </a:p>
        </p:txBody>
      </p:sp>
      <p:sp>
        <p:nvSpPr>
          <p:cNvPr id="9" name="Comparison table header"/>
          <p:cNvSpPr txBox="1"/>
          <p:nvPr/>
        </p:nvSpPr>
        <p:spPr>
          <a:xfrm>
            <a:off x="9427464" y="13716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Скорр. R²</a:t>
            </a:r>
            <a:endParaRPr lang="ru-RU" sz="1400"/>
          </a:p>
        </p:txBody>
      </p:sp>
      <p:sp>
        <p:nvSpPr>
          <p:cNvPr id="10" name="Table separator"/>
          <p:cNvSpPr/>
          <p:nvPr/>
        </p:nvSpPr>
        <p:spPr>
          <a:xfrm>
            <a:off x="1298448" y="1847088"/>
            <a:ext cx="10149840" cy="16459"/>
          </a:xfrm>
          <a:prstGeom prst="rect">
            <a:avLst/>
          </a:prstGeom>
          <a:solidFill>
            <a:srgbClr val="929292"/>
          </a:solidFill>
          <a:ln>
            <a:noFill/>
          </a:ln>
        </p:spPr>
      </p:sp>
      <p:sp>
        <p:nvSpPr>
          <p:cNvPr id="11" name="Comparison table cell"/>
          <p:cNvSpPr txBox="1"/>
          <p:nvPr/>
        </p:nvSpPr>
        <p:spPr>
          <a:xfrm>
            <a:off x="1298448" y="1947672"/>
            <a:ext cx="221284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comp_1</a:t>
            </a:r>
            <a:endParaRPr lang="ru-RU" sz="1600"/>
          </a:p>
        </p:txBody>
      </p:sp>
      <p:sp>
        <p:nvSpPr>
          <p:cNvPr id="12" name="Comparison table cell"/>
          <p:cNvSpPr txBox="1"/>
          <p:nvPr/>
        </p:nvSpPr>
        <p:spPr>
          <a:xfrm>
            <a:off x="3511296" y="1947672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0,364</a:t>
            </a:r>
            <a:endParaRPr lang="ru-RU" sz="1600"/>
          </a:p>
        </p:txBody>
      </p:sp>
      <p:sp>
        <p:nvSpPr>
          <p:cNvPr id="13" name="Comparison table cell"/>
          <p:cNvSpPr txBox="1"/>
          <p:nvPr/>
        </p:nvSpPr>
        <p:spPr>
          <a:xfrm>
            <a:off x="5111496" y="1947672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0,0134</a:t>
            </a:r>
            <a:endParaRPr lang="ru-RU" sz="1600"/>
          </a:p>
        </p:txBody>
      </p:sp>
      <p:sp>
        <p:nvSpPr>
          <p:cNvPr id="14" name="Comparison table cell"/>
          <p:cNvSpPr txBox="1"/>
          <p:nvPr/>
        </p:nvSpPr>
        <p:spPr>
          <a:xfrm>
            <a:off x="6665976" y="1947672"/>
            <a:ext cx="276148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[0,079; 0,649]</a:t>
            </a:r>
            <a:endParaRPr lang="ru-RU" sz="1600"/>
          </a:p>
        </p:txBody>
      </p:sp>
      <p:sp>
        <p:nvSpPr>
          <p:cNvPr id="15" name="Comparison table cell"/>
          <p:cNvSpPr txBox="1"/>
          <p:nvPr/>
        </p:nvSpPr>
        <p:spPr>
          <a:xfrm>
            <a:off x="9427464" y="1947672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0,236</a:t>
            </a:r>
            <a:endParaRPr lang="ru-RU" sz="1600"/>
          </a:p>
        </p:txBody>
      </p:sp>
      <p:sp>
        <p:nvSpPr>
          <p:cNvPr id="16" name="Table separator"/>
          <p:cNvSpPr/>
          <p:nvPr/>
        </p:nvSpPr>
        <p:spPr>
          <a:xfrm>
            <a:off x="1298448" y="2578608"/>
            <a:ext cx="10149840" cy="10973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17" name="Comparison table cell"/>
          <p:cNvSpPr txBox="1"/>
          <p:nvPr/>
        </p:nvSpPr>
        <p:spPr>
          <a:xfrm>
            <a:off x="1298448" y="2788920"/>
            <a:ext cx="221284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comp_2</a:t>
            </a:r>
            <a:endParaRPr lang="ru-RU" sz="1600"/>
          </a:p>
        </p:txBody>
      </p:sp>
      <p:sp>
        <p:nvSpPr>
          <p:cNvPr id="18" name="Comparison table cell"/>
          <p:cNvSpPr txBox="1"/>
          <p:nvPr/>
        </p:nvSpPr>
        <p:spPr>
          <a:xfrm>
            <a:off x="3511296" y="2788920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0,669</a:t>
            </a:r>
            <a:endParaRPr lang="ru-RU" sz="1600"/>
          </a:p>
        </p:txBody>
      </p:sp>
      <p:sp>
        <p:nvSpPr>
          <p:cNvPr id="19" name="Comparison table cell"/>
          <p:cNvSpPr txBox="1"/>
          <p:nvPr/>
        </p:nvSpPr>
        <p:spPr>
          <a:xfrm>
            <a:off x="5111496" y="2788920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0,000028</a:t>
            </a:r>
            <a:endParaRPr lang="ru-RU" sz="1600"/>
          </a:p>
        </p:txBody>
      </p:sp>
      <p:sp>
        <p:nvSpPr>
          <p:cNvPr id="20" name="Comparison table cell"/>
          <p:cNvSpPr txBox="1"/>
          <p:nvPr/>
        </p:nvSpPr>
        <p:spPr>
          <a:xfrm>
            <a:off x="6665976" y="2788920"/>
            <a:ext cx="276148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[0,377; 0,961]</a:t>
            </a:r>
            <a:endParaRPr lang="ru-RU" sz="1600"/>
          </a:p>
        </p:txBody>
      </p:sp>
      <p:sp>
        <p:nvSpPr>
          <p:cNvPr id="21" name="Comparison table cell"/>
          <p:cNvSpPr txBox="1"/>
          <p:nvPr/>
        </p:nvSpPr>
        <p:spPr>
          <a:xfrm>
            <a:off x="9427464" y="2788920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0,286</a:t>
            </a:r>
            <a:endParaRPr lang="ru-RU" sz="1600"/>
          </a:p>
        </p:txBody>
      </p:sp>
      <p:sp>
        <p:nvSpPr>
          <p:cNvPr id="22" name="Table separator"/>
          <p:cNvSpPr/>
          <p:nvPr/>
        </p:nvSpPr>
        <p:spPr>
          <a:xfrm>
            <a:off x="1298448" y="3419856"/>
            <a:ext cx="10149840" cy="10973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23" name="Comparison table cell"/>
          <p:cNvSpPr txBox="1"/>
          <p:nvPr/>
        </p:nvSpPr>
        <p:spPr>
          <a:xfrm>
            <a:off x="1298448" y="3630168"/>
            <a:ext cx="221284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comp_3</a:t>
            </a:r>
            <a:endParaRPr lang="ru-RU" sz="1600"/>
          </a:p>
        </p:txBody>
      </p:sp>
      <p:sp>
        <p:nvSpPr>
          <p:cNvPr id="24" name="Comparison table cell"/>
          <p:cNvSpPr txBox="1"/>
          <p:nvPr/>
        </p:nvSpPr>
        <p:spPr>
          <a:xfrm>
            <a:off x="3511296" y="3630168"/>
            <a:ext cx="16002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0,526</a:t>
            </a:r>
            <a:endParaRPr lang="ru-RU" sz="1600"/>
          </a:p>
        </p:txBody>
      </p:sp>
      <p:sp>
        <p:nvSpPr>
          <p:cNvPr id="25" name="Comparison table cell"/>
          <p:cNvSpPr txBox="1"/>
          <p:nvPr/>
        </p:nvSpPr>
        <p:spPr>
          <a:xfrm>
            <a:off x="5111496" y="3630168"/>
            <a:ext cx="15544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0,00048</a:t>
            </a:r>
            <a:endParaRPr lang="ru-RU" sz="1600"/>
          </a:p>
        </p:txBody>
      </p:sp>
      <p:sp>
        <p:nvSpPr>
          <p:cNvPr id="26" name="Comparison table cell"/>
          <p:cNvSpPr txBox="1"/>
          <p:nvPr/>
        </p:nvSpPr>
        <p:spPr>
          <a:xfrm>
            <a:off x="6665976" y="3630168"/>
            <a:ext cx="2761488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[0,243; 0,809]</a:t>
            </a:r>
            <a:endParaRPr lang="ru-RU" sz="1600"/>
          </a:p>
        </p:txBody>
      </p:sp>
      <p:sp>
        <p:nvSpPr>
          <p:cNvPr id="27" name="Comparison table cell"/>
          <p:cNvSpPr txBox="1"/>
          <p:nvPr/>
        </p:nvSpPr>
        <p:spPr>
          <a:xfrm>
            <a:off x="9427464" y="3630168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0,254</a:t>
            </a:r>
            <a:endParaRPr lang="ru-RU" sz="1600"/>
          </a:p>
        </p:txBody>
      </p:sp>
      <p:sp>
        <p:nvSpPr>
          <p:cNvPr id="28" name="Table separator"/>
          <p:cNvSpPr/>
          <p:nvPr/>
        </p:nvSpPr>
        <p:spPr>
          <a:xfrm>
            <a:off x="1298448" y="4261104"/>
            <a:ext cx="10149840" cy="10973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29" name="Comparison conclusion one"/>
          <p:cNvSpPr txBox="1"/>
          <p:nvPr/>
        </p:nvSpPr>
        <p:spPr>
          <a:xfrm>
            <a:off x="1353312" y="473659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Во всех трёх моделях связь положительная и значима на уровне 5%.</a:t>
            </a:r>
            <a:endParaRPr lang="ru-RU" sz="1700"/>
          </a:p>
        </p:txBody>
      </p:sp>
      <p:sp>
        <p:nvSpPr>
          <p:cNvPr id="30" name="Comparison conclusion two"/>
          <p:cNvSpPr txBox="1"/>
          <p:nvPr/>
        </p:nvSpPr>
        <p:spPr>
          <a:xfrm>
            <a:off x="1353312" y="528523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Наибольший скорректированный R² — у модели с comp_2: 0,286.</a:t>
            </a:r>
            <a:endParaRPr lang="ru-RU" sz="1700"/>
          </a:p>
        </p:txBody>
      </p:sp>
      <p:sp>
        <p:nvSpPr>
          <p:cNvPr id="31" name="Comparison caveat"/>
          <p:cNvSpPr txBox="1"/>
          <p:nvPr/>
        </p:nvSpPr>
        <p:spPr>
          <a:xfrm>
            <a:off x="1353312" y="594360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3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Это лучшая подгонка в данной выборке, но не проверка прогноза на новых данных.</a:t>
            </a:r>
            <a:endParaRPr lang="ru-RU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FU and institute side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" y="0"/>
            <a:ext cx="1105081" cy="6858000"/>
          </a:xfrm>
          <a:prstGeom prst="rect">
            <a:avLst/>
          </a:prstGeom>
        </p:spPr>
      </p:pic>
      <p:sp>
        <p:nvSpPr>
          <p:cNvPr id="3" name="Slide title"/>
          <p:cNvSpPr txBox="1"/>
          <p:nvPr/>
        </p:nvSpPr>
        <p:spPr>
          <a:xfrm>
            <a:off x="1188720" y="27432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>
            <a:noAutofit/>
          </a:bodyPr>
          <a:lstStyle/>
          <a:p>
            <a:pPr algn="l"/>
            <a:r>
              <a:rPr lang="ru-RU" sz="2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Множественная модель: все цены конкурентов вместе</a:t>
            </a:r>
            <a:endParaRPr lang="ru-RU" sz="2500"/>
          </a:p>
        </p:txBody>
      </p:sp>
      <p:sp>
        <p:nvSpPr>
          <p:cNvPr id="4" name="Multiple model description"/>
          <p:cNvSpPr txBox="1"/>
          <p:nvPr/>
        </p:nvSpPr>
        <p:spPr>
          <a:xfrm>
            <a:off x="1280160" y="749808"/>
            <a:ext cx="10287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5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Каждый коэффициент показывает условную связь при прочих равных.</a:t>
            </a:r>
            <a:endParaRPr lang="ru-RU" sz="1500"/>
          </a:p>
        </p:txBody>
      </p:sp>
      <p:pic>
        <p:nvPicPr>
          <p:cNvPr id="5" name="Multiple regression coeffici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63302"/>
            <a:ext cx="6629400" cy="4477700"/>
          </a:xfrm>
          <a:prstGeom prst="rect">
            <a:avLst/>
          </a:prstGeom>
        </p:spPr>
      </p:pic>
      <p:sp>
        <p:nvSpPr>
          <p:cNvPr id="6" name="Significant heading"/>
          <p:cNvSpPr txBox="1"/>
          <p:nvPr/>
        </p:nvSpPr>
        <p:spPr>
          <a:xfrm>
            <a:off x="7973568" y="1252728"/>
            <a:ext cx="37307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Значимы по отдельности</a:t>
            </a:r>
            <a:endParaRPr lang="ru-RU" sz="1700"/>
          </a:p>
        </p:txBody>
      </p:sp>
      <p:sp>
        <p:nvSpPr>
          <p:cNvPr id="7" name="Significant coefficients"/>
          <p:cNvSpPr txBox="1"/>
          <p:nvPr/>
        </p:nvSpPr>
        <p:spPr>
          <a:xfrm>
            <a:off x="7973568" y="1673352"/>
            <a:ext cx="3730752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Покупатели: β=0,543; p&lt;0,001</a:t>
            </a:r>
            <a:endParaRPr lang="ru-RU" sz="1400"/>
          </a:p>
          <a:p>
            <a:pPr algn="l"/>
            <a:r>
              <a:rPr lang="ru-RU" sz="1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comp_2: β=0,532; p=0,011</a:t>
            </a:r>
            <a:endParaRPr lang="ru-RU" sz="1400"/>
          </a:p>
          <a:p>
            <a:pPr algn="l"/>
            <a:r>
              <a:rPr lang="ru-RU" sz="1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Вес: β=0,135; p=0,037</a:t>
            </a:r>
            <a:endParaRPr lang="ru-RU" sz="1400"/>
          </a:p>
        </p:txBody>
      </p:sp>
      <p:sp>
        <p:nvSpPr>
          <p:cNvPr id="8" name="Table separator"/>
          <p:cNvSpPr/>
          <p:nvPr/>
        </p:nvSpPr>
        <p:spPr>
          <a:xfrm>
            <a:off x="7973568" y="2688336"/>
            <a:ext cx="3730752" cy="10973"/>
          </a:xfrm>
          <a:prstGeom prst="rect">
            <a:avLst/>
          </a:prstGeom>
          <a:solidFill>
            <a:srgbClr val="C0C0C0"/>
          </a:solidFill>
          <a:ln>
            <a:noFill/>
          </a:ln>
        </p:spPr>
      </p:sp>
      <p:sp>
        <p:nvSpPr>
          <p:cNvPr id="9" name="Not significant heading"/>
          <p:cNvSpPr txBox="1"/>
          <p:nvPr/>
        </p:nvSpPr>
        <p:spPr>
          <a:xfrm>
            <a:off x="7973568" y="2825496"/>
            <a:ext cx="37307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Не подтверждены отдельно</a:t>
            </a:r>
            <a:endParaRPr lang="ru-RU" sz="1600"/>
          </a:p>
        </p:txBody>
      </p:sp>
      <p:sp>
        <p:nvSpPr>
          <p:cNvPr id="10" name="Not significant coefficients"/>
          <p:cNvSpPr txBox="1"/>
          <p:nvPr/>
        </p:nvSpPr>
        <p:spPr>
          <a:xfrm>
            <a:off x="7973568" y="3218688"/>
            <a:ext cx="373075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comp_1 (p=0,802) и comp_3 (p=0,253): интервалы включают ноль.</a:t>
            </a:r>
            <a:endParaRPr lang="ru-RU" sz="1350"/>
          </a:p>
        </p:txBody>
      </p:sp>
      <p:sp>
        <p:nvSpPr>
          <p:cNvPr id="11" name="Table separator"/>
          <p:cNvSpPr/>
          <p:nvPr/>
        </p:nvSpPr>
        <p:spPr>
          <a:xfrm>
            <a:off x="7973568" y="3822192"/>
            <a:ext cx="3730752" cy="10973"/>
          </a:xfrm>
          <a:prstGeom prst="rect">
            <a:avLst/>
          </a:prstGeom>
          <a:solidFill>
            <a:srgbClr val="C0C0C0"/>
          </a:solidFill>
          <a:ln>
            <a:noFill/>
          </a:ln>
        </p:spPr>
      </p:sp>
      <p:sp>
        <p:nvSpPr>
          <p:cNvPr id="12" name="Tests heading"/>
          <p:cNvSpPr txBox="1"/>
          <p:nvPr/>
        </p:nvSpPr>
        <p:spPr>
          <a:xfrm>
            <a:off x="7973568" y="3950208"/>
            <a:ext cx="37307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Совместные тесты</a:t>
            </a:r>
            <a:endParaRPr lang="ru-RU" sz="1600"/>
          </a:p>
        </p:txBody>
      </p:sp>
      <p:sp>
        <p:nvSpPr>
          <p:cNvPr id="13" name="Joint tests"/>
          <p:cNvSpPr txBox="1"/>
          <p:nvPr/>
        </p:nvSpPr>
        <p:spPr>
          <a:xfrm>
            <a:off x="7973568" y="4315968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Конкуренты: F(3, 51)=10,58; p&lt;0,001.</a:t>
            </a:r>
            <a:endParaRPr lang="ru-RU" sz="1350"/>
          </a:p>
          <a:p>
            <a:pPr algn="l"/>
            <a:r>
              <a:rPr lang="ru-RU"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Модель: F(5, 51)=28,73; p&lt;0,001.</a:t>
            </a:r>
            <a:endParaRPr lang="ru-RU" sz="1350"/>
          </a:p>
          <a:p>
            <a:pPr algn="l"/>
            <a:r>
              <a:rPr lang="ru-RU"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R²=0,298; скорр. R²=0,293.</a:t>
            </a:r>
            <a:endParaRPr lang="ru-RU" sz="1350"/>
          </a:p>
        </p:txBody>
      </p:sp>
      <p:sp>
        <p:nvSpPr>
          <p:cNvPr id="14" name="Coefficient plot caption"/>
          <p:cNvSpPr txBox="1"/>
          <p:nvPr/>
        </p:nvSpPr>
        <p:spPr>
          <a:xfrm>
            <a:off x="1280160" y="5870448"/>
            <a:ext cx="6537960" cy="35661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Линии показывают кластерные 95%-ные доверительные интервалы.</a:t>
            </a:r>
            <a:endParaRPr lang="ru-RU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FU and institute side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" y="0"/>
            <a:ext cx="1105081" cy="6858000"/>
          </a:xfrm>
          <a:prstGeom prst="rect">
            <a:avLst/>
          </a:prstGeom>
        </p:spPr>
      </p:pic>
      <p:sp>
        <p:nvSpPr>
          <p:cNvPr id="3" name="Slide title"/>
          <p:cNvSpPr txBox="1"/>
          <p:nvPr/>
        </p:nvSpPr>
        <p:spPr>
          <a:xfrm>
            <a:off x="1188720" y="27432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>
            <a:noAutofit/>
          </a:bodyPr>
          <a:lstStyle/>
          <a:p>
            <a:pPr algn="l"/>
            <a:r>
              <a:rPr lang="ru-RU" sz="2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Интерпретация и ограничения</a:t>
            </a:r>
            <a:endParaRPr lang="ru-RU" sz="2500"/>
          </a:p>
        </p:txBody>
      </p:sp>
      <p:pic>
        <p:nvPicPr>
          <p:cNvPr id="4" name="Residual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180837"/>
            <a:ext cx="6272784" cy="3783094"/>
          </a:xfrm>
          <a:prstGeom prst="rect">
            <a:avLst/>
          </a:prstGeom>
        </p:spPr>
      </p:pic>
      <p:sp>
        <p:nvSpPr>
          <p:cNvPr id="5" name="Residual plot caption"/>
          <p:cNvSpPr txBox="1"/>
          <p:nvPr/>
        </p:nvSpPr>
        <p:spPr>
          <a:xfrm>
            <a:off x="1261872" y="5102352"/>
            <a:ext cx="5961888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13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 xml:space="preserve">Разброс остатков неодинаков. Это визуальная диагностика, а не формальный тест.</a:t>
            </a:r>
            <a:endParaRPr lang="ru-RU" sz="1300"/>
          </a:p>
        </p:txBody>
      </p:sp>
      <p:sp>
        <p:nvSpPr>
          <p:cNvPr id="6" name="Limitations heading"/>
          <p:cNvSpPr txBox="1"/>
          <p:nvPr/>
        </p:nvSpPr>
        <p:spPr>
          <a:xfrm>
            <a:off x="7589520" y="1170432"/>
            <a:ext cx="409651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Ограничения</a:t>
            </a:r>
            <a:endParaRPr lang="ru-RU" sz="1800"/>
          </a:p>
        </p:txBody>
      </p:sp>
      <p:sp>
        <p:nvSpPr>
          <p:cNvPr id="7" name="Limitation"/>
          <p:cNvSpPr txBox="1"/>
          <p:nvPr/>
        </p:nvSpPr>
        <p:spPr>
          <a:xfrm>
            <a:off x="7589520" y="1673352"/>
            <a:ext cx="409651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• Данные наблюдательные: причинность не устанавливается.</a:t>
            </a:r>
            <a:endParaRPr lang="ru-RU" sz="1450"/>
          </a:p>
        </p:txBody>
      </p:sp>
      <p:sp>
        <p:nvSpPr>
          <p:cNvPr id="8" name="Table separator"/>
          <p:cNvSpPr/>
          <p:nvPr/>
        </p:nvSpPr>
        <p:spPr>
          <a:xfrm>
            <a:off x="7589520" y="2304288"/>
            <a:ext cx="4096512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9" name="Limitation"/>
          <p:cNvSpPr txBox="1"/>
          <p:nvPr/>
        </p:nvSpPr>
        <p:spPr>
          <a:xfrm>
            <a:off x="7589520" y="2423160"/>
            <a:ext cx="409651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• 52 товара и только период 2017–2018 годов.</a:t>
            </a:r>
            <a:endParaRPr lang="ru-RU" sz="1450"/>
          </a:p>
        </p:txBody>
      </p:sp>
      <p:sp>
        <p:nvSpPr>
          <p:cNvPr id="10" name="Table separator"/>
          <p:cNvSpPr/>
          <p:nvPr/>
        </p:nvSpPr>
        <p:spPr>
          <a:xfrm>
            <a:off x="7589520" y="3054096"/>
            <a:ext cx="4096512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11" name="Limitation"/>
          <p:cNvSpPr txBox="1"/>
          <p:nvPr/>
        </p:nvSpPr>
        <p:spPr>
          <a:xfrm>
            <a:off x="7589520" y="3172968"/>
            <a:ext cx="409651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• Не учтены сезонность, категории и другие факторы.</a:t>
            </a:r>
            <a:endParaRPr lang="ru-RU" sz="1450"/>
          </a:p>
        </p:txBody>
      </p:sp>
      <p:sp>
        <p:nvSpPr>
          <p:cNvPr id="12" name="Table separator"/>
          <p:cNvSpPr/>
          <p:nvPr/>
        </p:nvSpPr>
        <p:spPr>
          <a:xfrm>
            <a:off x="7589520" y="3803904"/>
            <a:ext cx="4096512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sp>
        <p:nvSpPr>
          <p:cNvPr id="13" name="Limitation"/>
          <p:cNvSpPr txBox="1"/>
          <p:nvPr/>
        </p:nvSpPr>
        <p:spPr>
          <a:xfrm>
            <a:off x="7589520" y="3922776"/>
            <a:ext cx="4096512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4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• Нет проверки модели на новых наблюдениях.</a:t>
            </a:r>
            <a:endParaRPr lang="ru-RU" sz="1450"/>
          </a:p>
        </p:txBody>
      </p:sp>
      <p:sp>
        <p:nvSpPr>
          <p:cNvPr id="14" name="Ten percent interpretation"/>
          <p:cNvSpPr txBox="1"/>
          <p:nvPr/>
        </p:nvSpPr>
        <p:spPr>
          <a:xfrm>
            <a:off x="7589520" y="4864608"/>
            <a:ext cx="4096512" cy="10698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 xml:space="preserve">При росте на 10% модельная оценка цены меняется примерно на: покупатели +5,3%, comp_2 +5,2%, вес +1,3% (при прочих равных).</a:t>
            </a:r>
            <a:endParaRPr lang="ru-RU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watermark integral"/>
          <p:cNvSpPr txBox="1"/>
          <p:nvPr/>
        </p:nvSpPr>
        <p:spPr>
          <a:xfrm>
            <a:off x="228600" y="1051560"/>
            <a:ext cx="484632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39000" b="0">
                <a:solidFill>
                  <a:srgbClr val="2479B7">
                    <a:alpha val="25000"/>
                  </a:srgbClr>
                </a:solidFill>
                <a:latin typeface="Times New Roman"/>
                <a:ea typeface="Times New Roman"/>
                <a:cs typeface="Times New Roman"/>
              </a:rPr>
              <a:t xml:space="preserve">∫</a:t>
            </a:r>
            <a:endParaRPr lang="ru-RU" sz="39000"/>
          </a:p>
        </p:txBody>
      </p:sp>
      <p:sp>
        <p:nvSpPr>
          <p:cNvPr id="3" name="Closing watermark R squared"/>
          <p:cNvSpPr txBox="1"/>
          <p:nvPr/>
        </p:nvSpPr>
        <p:spPr>
          <a:xfrm>
            <a:off x="7132320" y="1143000"/>
            <a:ext cx="448056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24500" b="0">
                <a:solidFill>
                  <a:srgbClr val="2479B7">
                    <a:alpha val="26000"/>
                  </a:srgbClr>
                </a:solidFill>
                <a:latin typeface="Times New Roman"/>
                <a:ea typeface="Times New Roman"/>
                <a:cs typeface="Times New Roman"/>
              </a:rPr>
              <a:t xml:space="preserve">R²</a:t>
            </a:r>
            <a:endParaRPr lang="ru-RU" sz="24500"/>
          </a:p>
        </p:txBody>
      </p:sp>
      <p:pic>
        <p:nvPicPr>
          <p:cNvPr id="4" name="KFU s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31" y="384048"/>
            <a:ext cx="758426" cy="804672"/>
          </a:xfrm>
          <a:prstGeom prst="rect">
            <a:avLst/>
          </a:prstGeom>
        </p:spPr>
      </p:pic>
      <p:sp>
        <p:nvSpPr>
          <p:cNvPr id="5" name="Closing logo divider"/>
          <p:cNvSpPr/>
          <p:nvPr/>
        </p:nvSpPr>
        <p:spPr>
          <a:xfrm>
            <a:off x="1444752" y="429768"/>
            <a:ext cx="1645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6" name="Institute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448112"/>
            <a:ext cx="850392" cy="694832"/>
          </a:xfrm>
          <a:prstGeom prst="rect">
            <a:avLst/>
          </a:prstGeom>
        </p:spPr>
      </p:pic>
      <p:sp>
        <p:nvSpPr>
          <p:cNvPr id="7" name="Closing running title"/>
          <p:cNvSpPr txBox="1"/>
          <p:nvPr/>
        </p:nvSpPr>
        <p:spPr>
          <a:xfrm>
            <a:off x="2761488" y="475488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l"/>
            <a:r>
              <a:rPr lang="ru-RU" sz="17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Линейная регрессия для анализа факторов, связанных с ценой товара</a:t>
            </a:r>
            <a:endParaRPr lang="ru-RU" sz="1700"/>
          </a:p>
        </p:txBody>
      </p:sp>
      <p:sp>
        <p:nvSpPr>
          <p:cNvPr id="8" name="Thank you"/>
          <p:cNvSpPr txBox="1"/>
          <p:nvPr/>
        </p:nvSpPr>
        <p:spPr>
          <a:xfrm>
            <a:off x="1051560" y="2743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3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Спасибо за внимание!</a:t>
            </a:r>
            <a:endParaRPr lang="ru-RU" sz="3400"/>
          </a:p>
        </p:txBody>
      </p:sp>
      <p:sp>
        <p:nvSpPr>
          <p:cNvPr id="9" name="Author"/>
          <p:cNvSpPr txBox="1"/>
          <p:nvPr/>
        </p:nvSpPr>
        <p:spPr>
          <a:xfrm>
            <a:off x="1051560" y="3803904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54864" bIns="54864">
            <a:noAutofit/>
          </a:bodyPr>
          <a:lstStyle/>
          <a:p>
            <a:pPr algn="ctr"/>
            <a:r>
              <a:rPr lang="ru-RU" sz="1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Максим Кибардин</a:t>
            </a:r>
            <a:endParaRPr lang="ru-RU" sz="1600"/>
          </a:p>
          <a:p>
            <a:pPr algn="ctr"/>
            <a:r>
              <a:rPr lang="ru-RU" sz="16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Студент группы 05-308</a:t>
            </a:r>
            <a:endParaRPr lang="ru-RU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rsework">
  <a:themeElements>
    <a:clrScheme name="Coursework">
      <a:dk1>
        <a:srgbClr val="17324D"/>
      </a:dk1>
      <a:lt1>
        <a:srgbClr val="FFFFFF"/>
      </a:lt1>
      <a:dk2>
        <a:srgbClr val="1E2933"/>
      </a:dk2>
      <a:lt2>
        <a:srgbClr val="F3F7FA"/>
      </a:lt2>
      <a:accent1>
        <a:srgbClr val="2F8F83"/>
      </a:accent1>
      <a:accent2>
        <a:srgbClr val="E7B85B"/>
      </a:accent2>
      <a:accent3>
        <a:srgbClr val="B65050"/>
      </a:accent3>
      <a:accent4>
        <a:srgbClr val="526575"/>
      </a:accent4>
      <a:accent5>
        <a:srgbClr val="D8E5EB"/>
      </a:accent5>
      <a:accent6>
        <a:srgbClr val="8BB7A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oursewor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