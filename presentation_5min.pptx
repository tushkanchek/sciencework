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screen16x9"/>
  <p:notesSz cx="6858000" cy="9144000"/>
  <p:defaultTextStyle>
    <a:defPPr>
      <a:defRPr lang="ru-RU"/>
    </a:def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image" Target="../media/kfu_main_white.png"/><Relationship Id="rId3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image" Target="../media/image_price_distribution.png"/><Relationship Id="rId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image" Target="../media/image_predictor_correlations.png"/><Relationship Id="rId4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image" Target="../media/image_sensitivity_slides.png"/><Relationship Id="rId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image" Target="../media/image_validation_slides.png"/><Relationship Id="rId4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image" Target="../media/sidebar_with_kfu.png"/><Relationship Id="rId3" Type="http://schemas.openxmlformats.org/officeDocument/2006/relationships/image" Target="../media/image_residuals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6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3657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40000" b="0">
                <a:solidFill>
                  <a:srgbClr val="2479B7">
                    <a:alpha val="25000"/>
                  </a:srgbClr>
                </a:solidFill>
                <a:latin typeface="Times New Roman"/>
                <a:ea typeface="Times New Roman"/>
                <a:cs typeface="Times New Roman"/>
              </a:rPr>
              <a:t xml:space="preserve">∫</a:t>
            </a:r>
            <a:endParaRPr lang="ru-RU" sz="40000"/>
          </a:p>
        </p:txBody>
      </p:sp>
      <p:sp>
        <p:nvSpPr>
          <p:cNvPr id="3" name="Text"/>
          <p:cNvSpPr txBox="1"/>
          <p:nvPr/>
        </p:nvSpPr>
        <p:spPr>
          <a:xfrm>
            <a:off x="6675120" y="1508760"/>
            <a:ext cx="4754880" cy="43891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25000" b="0">
                <a:solidFill>
                  <a:srgbClr val="2479B7">
                    <a:alpha val="26000"/>
                  </a:srgbClr>
                </a:solidFill>
                <a:latin typeface="Times New Roman"/>
                <a:ea typeface="Times New Roman"/>
                <a:cs typeface="Times New Roman"/>
              </a:rPr>
              <a:t xml:space="preserve">R²</a:t>
            </a:r>
            <a:endParaRPr lang="ru-RU" sz="25000"/>
          </a:p>
        </p:txBody>
      </p:sp>
      <p:pic>
        <p:nvPicPr>
          <p:cNvPr id="4" name="KFU standar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570237"/>
            <a:ext cx="4709160" cy="651750"/>
          </a:xfrm>
          <a:prstGeom prst="rect">
            <a:avLst/>
          </a:prstGeom>
        </p:spPr>
      </p:pic>
      <p:sp>
        <p:nvSpPr>
          <p:cNvPr id="5" name="Rectangle"/>
          <p:cNvSpPr/>
          <p:nvPr/>
        </p:nvSpPr>
        <p:spPr>
          <a:xfrm>
            <a:off x="2633472" y="2706624"/>
            <a:ext cx="6931152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6" name="Text"/>
          <p:cNvSpPr txBox="1"/>
          <p:nvPr/>
        </p:nvSpPr>
        <p:spPr>
          <a:xfrm>
            <a:off x="1005840" y="2999232"/>
            <a:ext cx="10195560" cy="10241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25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Анализ данных розничной торговли</a:t>
            </a:r>
            <a:endParaRPr lang="ru-RU" sz="2500"/>
          </a:p>
          <a:p>
            <a:pPr algn="ctr"/>
            <a:r>
              <a:rPr lang="ru-RU" sz="25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 xml:space="preserve">с помощью множественной регрессии</a:t>
            </a:r>
            <a:endParaRPr lang="ru-RU" sz="2500"/>
          </a:p>
        </p:txBody>
      </p:sp>
      <p:sp>
        <p:nvSpPr>
          <p:cNvPr id="7" name="Text"/>
          <p:cNvSpPr txBox="1"/>
          <p:nvPr/>
        </p:nvSpPr>
        <p:spPr>
          <a:xfrm>
            <a:off x="1188720" y="4315968"/>
            <a:ext cx="978408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Какие факторы связаны с суммой продаж</a:t>
            </a:r>
            <a:endParaRPr lang="ru-RU" sz="1800"/>
          </a:p>
          <a:p>
            <a:pPr algn="ctr"/>
            <a:r>
              <a:rPr lang="ru-RU"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и помогает ли расширение модели предсказывать её?</a:t>
            </a:r>
            <a:endParaRPr lang="ru-RU" sz="1800"/>
          </a:p>
        </p:txBody>
      </p:sp>
      <p:sp>
        <p:nvSpPr>
          <p:cNvPr id="8" name="Text"/>
          <p:cNvSpPr txBox="1"/>
          <p:nvPr/>
        </p:nvSpPr>
        <p:spPr>
          <a:xfrm>
            <a:off x="1097280" y="5705856"/>
            <a:ext cx="996696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ctr"/>
            <a:r>
              <a:rPr lang="ru-RU" sz="1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Кибардин Максим Олегович · группа 05-308</a:t>
            </a:r>
            <a:endParaRPr lang="ru-RU" sz="1400"/>
          </a:p>
          <a:p>
            <a:pPr algn="ctr"/>
            <a:r>
              <a:rPr lang="ru-RU" sz="1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Научный руководитель: Р. Ф. Салимов · Казань, 2026</a:t>
            </a:r>
            <a:endParaRPr lang="ru-RU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1. Проверены данные и уточнён смысл отклика</a:t>
            </a:r>
            <a:endParaRPr lang="ru-RU" sz="2500"/>
          </a:p>
        </p:txBody>
      </p:sp>
      <p:sp>
        <p:nvSpPr>
          <p:cNvPr id="4" name="Text"/>
          <p:cNvSpPr txBox="1"/>
          <p:nvPr/>
        </p:nvSpPr>
        <p:spPr>
          <a:xfrm>
            <a:off x="1371600" y="822960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676 строк · 52 товара · 9 категорий · январь 2017 — август 2018</a:t>
            </a:r>
            <a:endParaRPr lang="ru-RU" sz="1800"/>
          </a:p>
        </p:txBody>
      </p:sp>
      <p:pic>
        <p:nvPicPr>
          <p:cNvPr id="5" name="Sales distribu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848029"/>
            <a:ext cx="6995160" cy="2613302"/>
          </a:xfrm>
          <a:prstGeom prst="rect">
            <a:avLst/>
          </a:prstGeom>
        </p:spPr>
      </p:pic>
      <p:sp>
        <p:nvSpPr>
          <p:cNvPr id="6" name="Text"/>
          <p:cNvSpPr txBox="1"/>
          <p:nvPr/>
        </p:nvSpPr>
        <p:spPr>
          <a:xfrm>
            <a:off x="8503920" y="1554480"/>
            <a:ext cx="31089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20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Что проверено</a:t>
            </a:r>
            <a:endParaRPr lang="ru-RU" sz="2000"/>
          </a:p>
        </p:txBody>
      </p:sp>
      <p:sp>
        <p:nvSpPr>
          <p:cNvPr id="7" name="Text"/>
          <p:cNvSpPr txBox="1"/>
          <p:nvPr/>
        </p:nvSpPr>
        <p:spPr>
          <a:xfrm>
            <a:off x="8503920" y="2148840"/>
            <a:ext cx="3108960" cy="19202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Пропуски и дубли: 0.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Проверены даты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и ключ «товар–месяц».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/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Все строки сохранены.</a:t>
            </a:r>
            <a:endParaRPr lang="ru-RU" sz="1700"/>
          </a:p>
        </p:txBody>
      </p:sp>
      <p:sp>
        <p:nvSpPr>
          <p:cNvPr id="8" name="Text"/>
          <p:cNvSpPr txBox="1"/>
          <p:nvPr/>
        </p:nvSpPr>
        <p:spPr>
          <a:xfrm>
            <a:off x="1417320" y="5074920"/>
            <a:ext cx="10012680" cy="57607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total_price ≈ цена единицы × количество → изучаем сумму продаж за месяц.</a:t>
            </a:r>
            <a:endParaRPr lang="ru-RU" sz="1800"/>
          </a:p>
        </p:txBody>
      </p:sp>
      <p:sp>
        <p:nvSpPr>
          <p:cNvPr id="9" name="Text"/>
          <p:cNvSpPr txBox="1"/>
          <p:nvPr/>
        </p:nvSpPr>
        <p:spPr>
          <a:xfrm>
            <a:off x="1417320" y="5696712"/>
            <a:ext cx="10012680" cy="43891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Логарифм сжимает правый хвост и позволяет описывать относительные связи.</a:t>
            </a:r>
            <a:endParaRPr lang="ru-RU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2. Исследованы связи и выбран набор факторов</a:t>
            </a:r>
            <a:endParaRPr lang="ru-RU" sz="2500"/>
          </a:p>
        </p:txBody>
      </p:sp>
      <p:pic>
        <p:nvPicPr>
          <p:cNvPr id="4" name="Correlation matr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288809"/>
            <a:ext cx="5074920" cy="4298670"/>
          </a:xfrm>
          <a:prstGeom prst="rect">
            <a:avLst/>
          </a:prstGeom>
        </p:spPr>
      </p:pic>
      <p:sp>
        <p:nvSpPr>
          <p:cNvPr id="5" name="Text"/>
          <p:cNvSpPr txBox="1"/>
          <p:nvPr/>
        </p:nvSpPr>
        <p:spPr>
          <a:xfrm>
            <a:off x="6675120" y="1033272"/>
            <a:ext cx="4800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Что показал предварительный анализ</a:t>
            </a:r>
            <a:endParaRPr lang="ru-RU" sz="1800"/>
          </a:p>
        </p:txBody>
      </p:sp>
      <p:sp>
        <p:nvSpPr>
          <p:cNvPr id="6" name="Text"/>
          <p:cNvSpPr txBox="1"/>
          <p:nvPr/>
        </p:nvSpPr>
        <p:spPr>
          <a:xfrm>
            <a:off x="6675120" y="1609344"/>
            <a:ext cx="4800600" cy="1042416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Покупатели и сумма продаж: r = 0,43.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Вес и объём: r = 0,64.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Парные связи требуют проверки в общей модели.</a:t>
            </a:r>
            <a:endParaRPr lang="ru-RU" sz="1700"/>
          </a:p>
        </p:txBody>
      </p:sp>
      <p:sp>
        <p:nvSpPr>
          <p:cNvPr id="7" name="Text"/>
          <p:cNvSpPr txBox="1"/>
          <p:nvPr/>
        </p:nvSpPr>
        <p:spPr>
          <a:xfrm>
            <a:off x="6675120" y="2852928"/>
            <a:ext cx="48006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Что включено в исследование</a:t>
            </a:r>
            <a:endParaRPr lang="ru-RU" sz="1800"/>
          </a:p>
        </p:txBody>
      </p:sp>
      <p:sp>
        <p:nvSpPr>
          <p:cNvPr id="8" name="Text"/>
          <p:cNvSpPr txBox="1"/>
          <p:nvPr/>
        </p:nvSpPr>
        <p:spPr>
          <a:xfrm>
            <a:off x="6675120" y="3429000"/>
            <a:ext cx="4800600" cy="1225296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9 числовых факторов:</a:t>
            </a:r>
            <a:endParaRPr lang="ru-RU" sz="1650"/>
          </a:p>
          <a:p>
            <a:pPr algn="l"/>
            <a:r>
              <a:rPr lang="ru-RU"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покупатели; 3 цены конкурентов;</a:t>
            </a:r>
            <a:endParaRPr lang="ru-RU" sz="1650"/>
          </a:p>
          <a:p>
            <a:pPr algn="l"/>
            <a:r>
              <a:rPr lang="ru-RU"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вес, объём, фотографии, рейтинг, доставка.</a:t>
            </a:r>
            <a:endParaRPr lang="ru-RU" sz="1650"/>
          </a:p>
          <a:p>
            <a:pPr algn="l"/>
            <a:r>
              <a:rPr lang="ru-RU"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Дополнительно — категория товара.</a:t>
            </a:r>
            <a:endParaRPr lang="ru-RU" sz="1650"/>
          </a:p>
        </p:txBody>
      </p:sp>
      <p:sp>
        <p:nvSpPr>
          <p:cNvPr id="9" name="Text"/>
          <p:cNvSpPr txBox="1"/>
          <p:nvPr/>
        </p:nvSpPr>
        <p:spPr>
          <a:xfrm>
            <a:off x="6675120" y="4901184"/>
            <a:ext cx="480060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Цена единицы и количество исключены:</a:t>
            </a:r>
            <a:endParaRPr lang="ru-RU" sz="1600"/>
          </a:p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они почти арифметически восстанавливают отклик.</a:t>
            </a:r>
            <a:endParaRPr lang="ru-RU" sz="1600"/>
          </a:p>
        </p:txBody>
      </p:sp>
      <p:sp>
        <p:nvSpPr>
          <p:cNvPr id="10" name="Text"/>
          <p:cNvSpPr txBox="1"/>
          <p:nvPr/>
        </p:nvSpPr>
        <p:spPr>
          <a:xfrm>
            <a:off x="1417320" y="6053328"/>
            <a:ext cx="10012680" cy="39319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Тепловая карта описывает парные корреляции, а не причинные эффекты и не значимость коэффициентов.</a:t>
            </a:r>
            <a:endParaRPr lang="ru-RU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3. Сравнены три варианта множественной регрессии</a:t>
            </a:r>
            <a:endParaRPr lang="ru-RU" sz="2500"/>
          </a:p>
        </p:txBody>
      </p:sp>
      <p:sp>
        <p:nvSpPr>
          <p:cNvPr id="4" name="Text"/>
          <p:cNvSpPr txBox="1"/>
          <p:nvPr/>
        </p:nvSpPr>
        <p:spPr>
          <a:xfrm>
            <a:off x="1371600" y="877824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Одна выборка и один отклик. Меняем только состав объясняющих факторов.</a:t>
            </a:r>
            <a:endParaRPr lang="ru-RU" sz="1800"/>
          </a:p>
        </p:txBody>
      </p:sp>
      <p:sp>
        <p:nvSpPr>
          <p:cNvPr id="5" name="Text"/>
          <p:cNvSpPr txBox="1"/>
          <p:nvPr/>
        </p:nvSpPr>
        <p:spPr>
          <a:xfrm>
            <a:off x="1371600" y="1682496"/>
            <a:ext cx="347472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Вариант</a:t>
            </a:r>
            <a:endParaRPr lang="ru-RU" sz="1700"/>
          </a:p>
        </p:txBody>
      </p:sp>
      <p:sp>
        <p:nvSpPr>
          <p:cNvPr id="6" name="Text"/>
          <p:cNvSpPr txBox="1"/>
          <p:nvPr/>
        </p:nvSpPr>
        <p:spPr>
          <a:xfrm>
            <a:off x="5029200" y="1682496"/>
            <a:ext cx="457200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Что добавлено</a:t>
            </a:r>
            <a:endParaRPr lang="ru-RU" sz="1700"/>
          </a:p>
        </p:txBody>
      </p:sp>
      <p:sp>
        <p:nvSpPr>
          <p:cNvPr id="7" name="Text"/>
          <p:cNvSpPr txBox="1"/>
          <p:nvPr/>
        </p:nvSpPr>
        <p:spPr>
          <a:xfrm>
            <a:off x="9784080" y="1682496"/>
            <a:ext cx="164592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R² скорр.</a:t>
            </a:r>
            <a:endParaRPr lang="ru-RU" sz="1700"/>
          </a:p>
        </p:txBody>
      </p:sp>
      <p:sp>
        <p:nvSpPr>
          <p:cNvPr id="8" name="Table separator"/>
          <p:cNvSpPr/>
          <p:nvPr/>
        </p:nvSpPr>
        <p:spPr>
          <a:xfrm>
            <a:off x="1371600" y="2185416"/>
            <a:ext cx="10058400" cy="10973"/>
          </a:xfrm>
          <a:prstGeom prst="rect">
            <a:avLst/>
          </a:prstGeom>
          <a:solidFill>
            <a:srgbClr val="B7C0C8"/>
          </a:solidFill>
          <a:ln>
            <a:noFill/>
          </a:ln>
        </p:spPr>
      </p:sp>
      <p:sp>
        <p:nvSpPr>
          <p:cNvPr id="9" name="Text"/>
          <p:cNvSpPr txBox="1"/>
          <p:nvPr/>
        </p:nvSpPr>
        <p:spPr>
          <a:xfrm>
            <a:off x="1371600" y="2295144"/>
            <a:ext cx="347472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Базовая (M1)</a:t>
            </a:r>
            <a:endParaRPr lang="ru-RU" sz="1700"/>
          </a:p>
        </p:txBody>
      </p:sp>
      <p:sp>
        <p:nvSpPr>
          <p:cNvPr id="10" name="Text"/>
          <p:cNvSpPr txBox="1"/>
          <p:nvPr/>
        </p:nvSpPr>
        <p:spPr>
          <a:xfrm>
            <a:off x="5029200" y="2295144"/>
            <a:ext cx="457200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Покупатели, 3 цены, вес, фото</a:t>
            </a:r>
            <a:endParaRPr lang="ru-RU" sz="1700"/>
          </a:p>
        </p:txBody>
      </p:sp>
      <p:sp>
        <p:nvSpPr>
          <p:cNvPr id="11" name="Text"/>
          <p:cNvSpPr txBox="1"/>
          <p:nvPr/>
        </p:nvSpPr>
        <p:spPr>
          <a:xfrm>
            <a:off x="9784080" y="2295144"/>
            <a:ext cx="164592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0,305</a:t>
            </a:r>
            <a:endParaRPr lang="ru-RU" sz="1700"/>
          </a:p>
        </p:txBody>
      </p:sp>
      <p:sp>
        <p:nvSpPr>
          <p:cNvPr id="12" name="Table separator"/>
          <p:cNvSpPr/>
          <p:nvPr/>
        </p:nvSpPr>
        <p:spPr>
          <a:xfrm>
            <a:off x="1371600" y="2798064"/>
            <a:ext cx="10058400" cy="10973"/>
          </a:xfrm>
          <a:prstGeom prst="rect">
            <a:avLst/>
          </a:prstGeom>
          <a:solidFill>
            <a:srgbClr val="B7C0C8"/>
          </a:solidFill>
          <a:ln>
            <a:noFill/>
          </a:ln>
        </p:spPr>
      </p:sp>
      <p:sp>
        <p:nvSpPr>
          <p:cNvPr id="13" name="Text"/>
          <p:cNvSpPr txBox="1"/>
          <p:nvPr/>
        </p:nvSpPr>
        <p:spPr>
          <a:xfrm>
            <a:off x="1371600" y="2907792"/>
            <a:ext cx="347472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 категориями (M2)</a:t>
            </a:r>
            <a:endParaRPr lang="ru-RU" sz="1700"/>
          </a:p>
        </p:txBody>
      </p:sp>
      <p:sp>
        <p:nvSpPr>
          <p:cNvPr id="14" name="Text"/>
          <p:cNvSpPr txBox="1"/>
          <p:nvPr/>
        </p:nvSpPr>
        <p:spPr>
          <a:xfrm>
            <a:off x="5029200" y="2907792"/>
            <a:ext cx="457200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8 индикаторов категории</a:t>
            </a:r>
            <a:endParaRPr lang="ru-RU" sz="1700"/>
          </a:p>
        </p:txBody>
      </p:sp>
      <p:sp>
        <p:nvSpPr>
          <p:cNvPr id="15" name="Text"/>
          <p:cNvSpPr txBox="1"/>
          <p:nvPr/>
        </p:nvSpPr>
        <p:spPr>
          <a:xfrm>
            <a:off x="9784080" y="2907792"/>
            <a:ext cx="164592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0,361</a:t>
            </a:r>
            <a:endParaRPr lang="ru-RU" sz="1700"/>
          </a:p>
        </p:txBody>
      </p:sp>
      <p:sp>
        <p:nvSpPr>
          <p:cNvPr id="16" name="Table separator"/>
          <p:cNvSpPr/>
          <p:nvPr/>
        </p:nvSpPr>
        <p:spPr>
          <a:xfrm>
            <a:off x="1371600" y="3410712"/>
            <a:ext cx="10058400" cy="10973"/>
          </a:xfrm>
          <a:prstGeom prst="rect">
            <a:avLst/>
          </a:prstGeom>
          <a:solidFill>
            <a:srgbClr val="B7C0C8"/>
          </a:solidFill>
          <a:ln>
            <a:noFill/>
          </a:ln>
        </p:spPr>
      </p:sp>
      <p:sp>
        <p:nvSpPr>
          <p:cNvPr id="17" name="Text"/>
          <p:cNvSpPr txBox="1"/>
          <p:nvPr/>
        </p:nvSpPr>
        <p:spPr>
          <a:xfrm>
            <a:off x="1371600" y="3520440"/>
            <a:ext cx="347472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Расширенная (M3)</a:t>
            </a:r>
            <a:endParaRPr lang="ru-RU" sz="1700"/>
          </a:p>
        </p:txBody>
      </p:sp>
      <p:sp>
        <p:nvSpPr>
          <p:cNvPr id="18" name="Text"/>
          <p:cNvSpPr txBox="1"/>
          <p:nvPr/>
        </p:nvSpPr>
        <p:spPr>
          <a:xfrm>
            <a:off x="5029200" y="3520440"/>
            <a:ext cx="457200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Рейтинг, объём и доставка</a:t>
            </a:r>
            <a:endParaRPr lang="ru-RU" sz="1700"/>
          </a:p>
        </p:txBody>
      </p:sp>
      <p:sp>
        <p:nvSpPr>
          <p:cNvPr id="19" name="Text"/>
          <p:cNvSpPr txBox="1"/>
          <p:nvPr/>
        </p:nvSpPr>
        <p:spPr>
          <a:xfrm>
            <a:off x="9784080" y="3520440"/>
            <a:ext cx="1645920" cy="4480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0,379</a:t>
            </a:r>
            <a:endParaRPr lang="ru-RU" sz="1700"/>
          </a:p>
        </p:txBody>
      </p:sp>
      <p:sp>
        <p:nvSpPr>
          <p:cNvPr id="20" name="Table separator"/>
          <p:cNvSpPr/>
          <p:nvPr/>
        </p:nvSpPr>
        <p:spPr>
          <a:xfrm>
            <a:off x="1371600" y="4023360"/>
            <a:ext cx="10058400" cy="10973"/>
          </a:xfrm>
          <a:prstGeom prst="rect">
            <a:avLst/>
          </a:prstGeom>
          <a:solidFill>
            <a:srgbClr val="B7C0C8"/>
          </a:solidFill>
          <a:ln>
            <a:noFill/>
          </a:ln>
        </p:spPr>
      </p:sp>
      <p:sp>
        <p:nvSpPr>
          <p:cNvPr id="21" name="Text"/>
          <p:cNvSpPr txBox="1"/>
          <p:nvPr/>
        </p:nvSpPr>
        <p:spPr>
          <a:xfrm>
            <a:off x="1417320" y="4407408"/>
            <a:ext cx="1001268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20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Категория улучшила подгонку: 0,305 → 0,361.</a:t>
            </a:r>
            <a:endParaRPr lang="ru-RU" sz="2000"/>
          </a:p>
          <a:p>
            <a:pPr algn="l"/>
            <a:r>
              <a:rPr lang="ru-RU" sz="20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Три новых признака повысили её до 0,379.</a:t>
            </a:r>
            <a:endParaRPr lang="ru-RU" sz="2000"/>
          </a:p>
        </p:txBody>
      </p:sp>
      <p:sp>
        <p:nvSpPr>
          <p:cNvPr id="22" name="Text"/>
          <p:cNvSpPr txBox="1"/>
          <p:nvPr/>
        </p:nvSpPr>
        <p:spPr>
          <a:xfrm>
            <a:off x="1417320" y="5340096"/>
            <a:ext cx="100126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ln(Y) = b₀ + b₁x₁ + … + b₉x₉ + эффекты категории + ε</a:t>
            </a:r>
            <a:endParaRPr lang="ru-RU" sz="1900"/>
          </a:p>
        </p:txBody>
      </p:sp>
      <p:sp>
        <p:nvSpPr>
          <p:cNvPr id="23" name="Text"/>
          <p:cNvSpPr txBox="1"/>
          <p:nvPr/>
        </p:nvSpPr>
        <p:spPr>
          <a:xfrm>
            <a:off x="1417320" y="5788152"/>
            <a:ext cx="100126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Y — сумма продаж; b — коэффициенты; x — факторы (шкалы на слайде 5); ε — ошибка.</a:t>
            </a:r>
            <a:endParaRPr lang="ru-RU" sz="1300"/>
          </a:p>
        </p:txBody>
      </p:sp>
      <p:sp>
        <p:nvSpPr>
          <p:cNvPr id="24" name="Text"/>
          <p:cNvSpPr txBox="1"/>
          <p:nvPr/>
        </p:nvSpPr>
        <p:spPr>
          <a:xfrm>
            <a:off x="1417320" y="6053328"/>
            <a:ext cx="10012680" cy="39319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3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Оценивание — МНК; ошибки по товару. R² описывает подгонку; проверка предсказаний — слайд 7.</a:t>
            </a:r>
            <a:endParaRPr lang="ru-RU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4. Проверено, какие связи сохраняются в общей модели</a:t>
            </a:r>
            <a:endParaRPr lang="ru-RU" sz="2500"/>
          </a:p>
        </p:txBody>
      </p:sp>
      <p:sp>
        <p:nvSpPr>
          <p:cNvPr id="4" name="Text"/>
          <p:cNvSpPr txBox="1"/>
          <p:nvPr/>
        </p:nvSpPr>
        <p:spPr>
          <a:xfrm>
            <a:off x="1371600" y="1024128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Фактор</a:t>
            </a:r>
            <a:endParaRPr lang="ru-RU" sz="1700"/>
          </a:p>
        </p:txBody>
      </p:sp>
      <p:sp>
        <p:nvSpPr>
          <p:cNvPr id="5" name="Text"/>
          <p:cNvSpPr txBox="1"/>
          <p:nvPr/>
        </p:nvSpPr>
        <p:spPr>
          <a:xfrm>
            <a:off x="4297680" y="1024128"/>
            <a:ext cx="11887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Коэфф.</a:t>
            </a:r>
            <a:endParaRPr lang="ru-RU" sz="1700"/>
          </a:p>
        </p:txBody>
      </p:sp>
      <p:sp>
        <p:nvSpPr>
          <p:cNvPr id="6" name="Text"/>
          <p:cNvSpPr txBox="1"/>
          <p:nvPr/>
        </p:nvSpPr>
        <p:spPr>
          <a:xfrm>
            <a:off x="5623560" y="1024128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p Холма</a:t>
            </a:r>
            <a:endParaRPr lang="ru-RU" sz="1700"/>
          </a:p>
        </p:txBody>
      </p:sp>
      <p:sp>
        <p:nvSpPr>
          <p:cNvPr id="7" name="Table separator"/>
          <p:cNvSpPr/>
          <p:nvPr/>
        </p:nvSpPr>
        <p:spPr>
          <a:xfrm>
            <a:off x="1371600" y="1508760"/>
            <a:ext cx="5669280" cy="10973"/>
          </a:xfrm>
          <a:prstGeom prst="rect">
            <a:avLst/>
          </a:prstGeom>
          <a:solidFill>
            <a:srgbClr val="B7C0C8"/>
          </a:solidFill>
          <a:ln>
            <a:noFill/>
          </a:ln>
        </p:spPr>
      </p:sp>
      <p:sp>
        <p:nvSpPr>
          <p:cNvPr id="8" name="Text"/>
          <p:cNvSpPr txBox="1"/>
          <p:nvPr/>
        </p:nvSpPr>
        <p:spPr>
          <a:xfrm>
            <a:off x="1371600" y="1636776"/>
            <a:ext cx="28346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ln покупателей</a:t>
            </a:r>
            <a:endParaRPr lang="ru-RU" sz="1600"/>
          </a:p>
        </p:txBody>
      </p:sp>
      <p:sp>
        <p:nvSpPr>
          <p:cNvPr id="9" name="Text"/>
          <p:cNvSpPr txBox="1"/>
          <p:nvPr/>
        </p:nvSpPr>
        <p:spPr>
          <a:xfrm>
            <a:off x="4297680" y="1636776"/>
            <a:ext cx="118872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0,686</a:t>
            </a:r>
            <a:endParaRPr lang="ru-RU" sz="1600"/>
          </a:p>
        </p:txBody>
      </p:sp>
      <p:sp>
        <p:nvSpPr>
          <p:cNvPr id="10" name="Text"/>
          <p:cNvSpPr txBox="1"/>
          <p:nvPr/>
        </p:nvSpPr>
        <p:spPr>
          <a:xfrm>
            <a:off x="5623560" y="1636776"/>
            <a:ext cx="14630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&lt; 0,001</a:t>
            </a:r>
            <a:endParaRPr lang="ru-RU" sz="1600"/>
          </a:p>
        </p:txBody>
      </p:sp>
      <p:sp>
        <p:nvSpPr>
          <p:cNvPr id="11" name="Text"/>
          <p:cNvSpPr txBox="1"/>
          <p:nvPr/>
        </p:nvSpPr>
        <p:spPr>
          <a:xfrm>
            <a:off x="1371600" y="2029968"/>
            <a:ext cx="28346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ln цены конкурента 1</a:t>
            </a:r>
            <a:endParaRPr lang="ru-RU" sz="1600"/>
          </a:p>
        </p:txBody>
      </p:sp>
      <p:sp>
        <p:nvSpPr>
          <p:cNvPr id="12" name="Text"/>
          <p:cNvSpPr txBox="1"/>
          <p:nvPr/>
        </p:nvSpPr>
        <p:spPr>
          <a:xfrm>
            <a:off x="4297680" y="2029968"/>
            <a:ext cx="118872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0,195</a:t>
            </a:r>
            <a:endParaRPr lang="ru-RU" sz="1600"/>
          </a:p>
        </p:txBody>
      </p:sp>
      <p:sp>
        <p:nvSpPr>
          <p:cNvPr id="13" name="Text"/>
          <p:cNvSpPr txBox="1"/>
          <p:nvPr/>
        </p:nvSpPr>
        <p:spPr>
          <a:xfrm>
            <a:off x="5623560" y="2029968"/>
            <a:ext cx="14630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0,728</a:t>
            </a:r>
            <a:endParaRPr lang="ru-RU" sz="1600"/>
          </a:p>
        </p:txBody>
      </p:sp>
      <p:sp>
        <p:nvSpPr>
          <p:cNvPr id="14" name="Text"/>
          <p:cNvSpPr txBox="1"/>
          <p:nvPr/>
        </p:nvSpPr>
        <p:spPr>
          <a:xfrm>
            <a:off x="1371600" y="2423160"/>
            <a:ext cx="28346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ln цены конкурента 2</a:t>
            </a:r>
            <a:endParaRPr lang="ru-RU" sz="1600"/>
          </a:p>
        </p:txBody>
      </p:sp>
      <p:sp>
        <p:nvSpPr>
          <p:cNvPr id="15" name="Text"/>
          <p:cNvSpPr txBox="1"/>
          <p:nvPr/>
        </p:nvSpPr>
        <p:spPr>
          <a:xfrm>
            <a:off x="4297680" y="2423160"/>
            <a:ext cx="118872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0,252</a:t>
            </a:r>
            <a:endParaRPr lang="ru-RU" sz="1600"/>
          </a:p>
        </p:txBody>
      </p:sp>
      <p:sp>
        <p:nvSpPr>
          <p:cNvPr id="16" name="Text"/>
          <p:cNvSpPr txBox="1"/>
          <p:nvPr/>
        </p:nvSpPr>
        <p:spPr>
          <a:xfrm>
            <a:off x="5623560" y="2423160"/>
            <a:ext cx="14630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1,000</a:t>
            </a:r>
            <a:endParaRPr lang="ru-RU" sz="1600"/>
          </a:p>
        </p:txBody>
      </p:sp>
      <p:sp>
        <p:nvSpPr>
          <p:cNvPr id="17" name="Text"/>
          <p:cNvSpPr txBox="1"/>
          <p:nvPr/>
        </p:nvSpPr>
        <p:spPr>
          <a:xfrm>
            <a:off x="1371600" y="2816352"/>
            <a:ext cx="28346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ln цены конкурента 3</a:t>
            </a:r>
            <a:endParaRPr lang="ru-RU" sz="1600"/>
          </a:p>
        </p:txBody>
      </p:sp>
      <p:sp>
        <p:nvSpPr>
          <p:cNvPr id="18" name="Text"/>
          <p:cNvSpPr txBox="1"/>
          <p:nvPr/>
        </p:nvSpPr>
        <p:spPr>
          <a:xfrm>
            <a:off x="4297680" y="2816352"/>
            <a:ext cx="118872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0,447</a:t>
            </a:r>
            <a:endParaRPr lang="ru-RU" sz="1600"/>
          </a:p>
        </p:txBody>
      </p:sp>
      <p:sp>
        <p:nvSpPr>
          <p:cNvPr id="19" name="Text"/>
          <p:cNvSpPr txBox="1"/>
          <p:nvPr/>
        </p:nvSpPr>
        <p:spPr>
          <a:xfrm>
            <a:off x="5623560" y="2816352"/>
            <a:ext cx="14630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0,211</a:t>
            </a:r>
            <a:endParaRPr lang="ru-RU" sz="1600"/>
          </a:p>
        </p:txBody>
      </p:sp>
      <p:sp>
        <p:nvSpPr>
          <p:cNvPr id="20" name="Text"/>
          <p:cNvSpPr txBox="1"/>
          <p:nvPr/>
        </p:nvSpPr>
        <p:spPr>
          <a:xfrm>
            <a:off x="1371600" y="3209544"/>
            <a:ext cx="28346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ln веса</a:t>
            </a:r>
            <a:endParaRPr lang="ru-RU" sz="1600"/>
          </a:p>
        </p:txBody>
      </p:sp>
      <p:sp>
        <p:nvSpPr>
          <p:cNvPr id="21" name="Text"/>
          <p:cNvSpPr txBox="1"/>
          <p:nvPr/>
        </p:nvSpPr>
        <p:spPr>
          <a:xfrm>
            <a:off x="4297680" y="3209544"/>
            <a:ext cx="118872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0,314</a:t>
            </a:r>
            <a:endParaRPr lang="ru-RU" sz="1600"/>
          </a:p>
        </p:txBody>
      </p:sp>
      <p:sp>
        <p:nvSpPr>
          <p:cNvPr id="22" name="Text"/>
          <p:cNvSpPr txBox="1"/>
          <p:nvPr/>
        </p:nvSpPr>
        <p:spPr>
          <a:xfrm>
            <a:off x="5623560" y="3209544"/>
            <a:ext cx="14630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0,049</a:t>
            </a:r>
            <a:endParaRPr lang="ru-RU" sz="1600"/>
          </a:p>
        </p:txBody>
      </p:sp>
      <p:sp>
        <p:nvSpPr>
          <p:cNvPr id="23" name="Text"/>
          <p:cNvSpPr txBox="1"/>
          <p:nvPr/>
        </p:nvSpPr>
        <p:spPr>
          <a:xfrm>
            <a:off x="1371600" y="3602736"/>
            <a:ext cx="28346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Фотографии</a:t>
            </a:r>
            <a:endParaRPr lang="ru-RU" sz="1600"/>
          </a:p>
        </p:txBody>
      </p:sp>
      <p:sp>
        <p:nvSpPr>
          <p:cNvPr id="24" name="Text"/>
          <p:cNvSpPr txBox="1"/>
          <p:nvPr/>
        </p:nvSpPr>
        <p:spPr>
          <a:xfrm>
            <a:off x="4297680" y="3602736"/>
            <a:ext cx="118872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0,126</a:t>
            </a:r>
            <a:endParaRPr lang="ru-RU" sz="1600"/>
          </a:p>
        </p:txBody>
      </p:sp>
      <p:sp>
        <p:nvSpPr>
          <p:cNvPr id="25" name="Text"/>
          <p:cNvSpPr txBox="1"/>
          <p:nvPr/>
        </p:nvSpPr>
        <p:spPr>
          <a:xfrm>
            <a:off x="5623560" y="3602736"/>
            <a:ext cx="14630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0,211</a:t>
            </a:r>
            <a:endParaRPr lang="ru-RU" sz="1600"/>
          </a:p>
        </p:txBody>
      </p:sp>
      <p:sp>
        <p:nvSpPr>
          <p:cNvPr id="26" name="Text"/>
          <p:cNvSpPr txBox="1"/>
          <p:nvPr/>
        </p:nvSpPr>
        <p:spPr>
          <a:xfrm>
            <a:off x="1371600" y="3995928"/>
            <a:ext cx="28346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Рейтинг</a:t>
            </a:r>
            <a:endParaRPr lang="ru-RU" sz="1600"/>
          </a:p>
        </p:txBody>
      </p:sp>
      <p:sp>
        <p:nvSpPr>
          <p:cNvPr id="27" name="Text"/>
          <p:cNvSpPr txBox="1"/>
          <p:nvPr/>
        </p:nvSpPr>
        <p:spPr>
          <a:xfrm>
            <a:off x="4297680" y="3995928"/>
            <a:ext cx="118872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-0,029</a:t>
            </a:r>
            <a:endParaRPr lang="ru-RU" sz="1600"/>
          </a:p>
        </p:txBody>
      </p:sp>
      <p:sp>
        <p:nvSpPr>
          <p:cNvPr id="28" name="Text"/>
          <p:cNvSpPr txBox="1"/>
          <p:nvPr/>
        </p:nvSpPr>
        <p:spPr>
          <a:xfrm>
            <a:off x="5623560" y="3995928"/>
            <a:ext cx="14630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1,000</a:t>
            </a:r>
            <a:endParaRPr lang="ru-RU" sz="1600"/>
          </a:p>
        </p:txBody>
      </p:sp>
      <p:sp>
        <p:nvSpPr>
          <p:cNvPr id="29" name="Text"/>
          <p:cNvSpPr txBox="1"/>
          <p:nvPr/>
        </p:nvSpPr>
        <p:spPr>
          <a:xfrm>
            <a:off x="1371600" y="4389120"/>
            <a:ext cx="28346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ln объёма</a:t>
            </a:r>
            <a:endParaRPr lang="ru-RU" sz="1600"/>
          </a:p>
        </p:txBody>
      </p:sp>
      <p:sp>
        <p:nvSpPr>
          <p:cNvPr id="30" name="Text"/>
          <p:cNvSpPr txBox="1"/>
          <p:nvPr/>
        </p:nvSpPr>
        <p:spPr>
          <a:xfrm>
            <a:off x="4297680" y="4389120"/>
            <a:ext cx="118872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0,335</a:t>
            </a:r>
            <a:endParaRPr lang="ru-RU" sz="1600"/>
          </a:p>
        </p:txBody>
      </p:sp>
      <p:sp>
        <p:nvSpPr>
          <p:cNvPr id="31" name="Text"/>
          <p:cNvSpPr txBox="1"/>
          <p:nvPr/>
        </p:nvSpPr>
        <p:spPr>
          <a:xfrm>
            <a:off x="5623560" y="4389120"/>
            <a:ext cx="14630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0,200</a:t>
            </a:r>
            <a:endParaRPr lang="ru-RU" sz="1600"/>
          </a:p>
        </p:txBody>
      </p:sp>
      <p:sp>
        <p:nvSpPr>
          <p:cNvPr id="32" name="Text"/>
          <p:cNvSpPr txBox="1"/>
          <p:nvPr/>
        </p:nvSpPr>
        <p:spPr>
          <a:xfrm>
            <a:off x="1371600" y="4782312"/>
            <a:ext cx="28346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Доставка</a:t>
            </a:r>
            <a:endParaRPr lang="ru-RU" sz="1600"/>
          </a:p>
        </p:txBody>
      </p:sp>
      <p:sp>
        <p:nvSpPr>
          <p:cNvPr id="33" name="Text"/>
          <p:cNvSpPr txBox="1"/>
          <p:nvPr/>
        </p:nvSpPr>
        <p:spPr>
          <a:xfrm>
            <a:off x="4297680" y="4782312"/>
            <a:ext cx="118872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≈ 0</a:t>
            </a:r>
            <a:endParaRPr lang="ru-RU" sz="1600"/>
          </a:p>
        </p:txBody>
      </p:sp>
      <p:sp>
        <p:nvSpPr>
          <p:cNvPr id="34" name="Text"/>
          <p:cNvSpPr txBox="1"/>
          <p:nvPr/>
        </p:nvSpPr>
        <p:spPr>
          <a:xfrm>
            <a:off x="5623560" y="4782312"/>
            <a:ext cx="14630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1,000</a:t>
            </a:r>
            <a:endParaRPr lang="ru-RU" sz="1600"/>
          </a:p>
        </p:txBody>
      </p:sp>
      <p:sp>
        <p:nvSpPr>
          <p:cNvPr id="35" name="Text"/>
          <p:cNvSpPr txBox="1"/>
          <p:nvPr/>
        </p:nvSpPr>
        <p:spPr>
          <a:xfrm>
            <a:off x="7424928" y="1033272"/>
            <a:ext cx="4096512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20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Цены конкурентов:</a:t>
            </a:r>
            <a:endParaRPr lang="ru-RU" sz="2000"/>
          </a:p>
          <a:p>
            <a:pPr algn="l"/>
            <a:r>
              <a:rPr lang="ru-RU" sz="20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совместная связь есть</a:t>
            </a:r>
            <a:endParaRPr lang="ru-RU" sz="2000"/>
          </a:p>
        </p:txBody>
      </p:sp>
      <p:sp>
        <p:nvSpPr>
          <p:cNvPr id="36" name="Text"/>
          <p:cNvSpPr txBox="1"/>
          <p:nvPr/>
        </p:nvSpPr>
        <p:spPr>
          <a:xfrm>
            <a:off x="7424928" y="1965960"/>
            <a:ext cx="4096512" cy="43891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F(3, 51) = 4,10; p = 0,011</a:t>
            </a:r>
            <a:endParaRPr lang="ru-RU" sz="1700"/>
          </a:p>
        </p:txBody>
      </p:sp>
      <p:sp>
        <p:nvSpPr>
          <p:cNvPr id="37" name="Text"/>
          <p:cNvSpPr txBox="1"/>
          <p:nvPr/>
        </p:nvSpPr>
        <p:spPr>
          <a:xfrm>
            <a:off x="7424928" y="2688336"/>
            <a:ext cx="4096512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Отдельный конкурент</a:t>
            </a:r>
            <a:endParaRPr lang="ru-RU" sz="1800"/>
          </a:p>
          <a:p>
            <a:pPr algn="l"/>
            <a:r>
              <a:rPr lang="ru-RU"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после 9 проверок с Холмом</a:t>
            </a:r>
            <a:endParaRPr lang="ru-RU" sz="1800"/>
          </a:p>
          <a:p>
            <a:pPr algn="l"/>
            <a:r>
              <a:rPr lang="ru-RU"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не выделяется.</a:t>
            </a:r>
            <a:endParaRPr lang="ru-RU" sz="1800"/>
          </a:p>
        </p:txBody>
      </p:sp>
      <p:sp>
        <p:nvSpPr>
          <p:cNvPr id="38" name="Text"/>
          <p:cNvSpPr txBox="1"/>
          <p:nvPr/>
        </p:nvSpPr>
        <p:spPr>
          <a:xfrm>
            <a:off x="7424928" y="3986784"/>
            <a:ext cx="4096512" cy="10241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Покупатели +10% →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оценка суммы продаж +6,8%*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Вес: p Холма = 0,049 — на границе.</a:t>
            </a:r>
            <a:endParaRPr lang="ru-RU" sz="1700"/>
          </a:p>
        </p:txBody>
      </p:sp>
      <p:sp>
        <p:nvSpPr>
          <p:cNvPr id="39" name="Text"/>
          <p:cNvSpPr txBox="1"/>
          <p:nvPr/>
        </p:nvSpPr>
        <p:spPr>
          <a:xfrm>
            <a:off x="1417320" y="5577840"/>
            <a:ext cx="10012680" cy="72237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5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ln — натуральный логарифм; остальные факторы в исходной шкале. Результаты основной M3.</a:t>
            </a:r>
            <a:endParaRPr lang="ru-RU" sz="1500"/>
          </a:p>
          <a:p>
            <a:pPr algn="l"/>
            <a:r>
              <a:rPr lang="ru-RU" sz="15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* Геометрическое среднее при прочих равных. Чувствительность к времени — следующий слайд.</a:t>
            </a:r>
            <a:endParaRPr lang="ru-RU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5. Проверена устойчивость к товарам и времени</a:t>
            </a:r>
            <a:endParaRPr lang="ru-RU" sz="2500"/>
          </a:p>
        </p:txBody>
      </p:sp>
      <p:pic>
        <p:nvPicPr>
          <p:cNvPr id="4" name="Sensitivity to removing a produc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12561"/>
            <a:ext cx="6675120" cy="3632878"/>
          </a:xfrm>
          <a:prstGeom prst="rect">
            <a:avLst/>
          </a:prstGeom>
        </p:spPr>
      </p:pic>
      <p:sp>
        <p:nvSpPr>
          <p:cNvPr id="5" name="Text"/>
          <p:cNvSpPr txBox="1"/>
          <p:nvPr/>
        </p:nvSpPr>
        <p:spPr>
          <a:xfrm>
            <a:off x="8183880" y="1207008"/>
            <a:ext cx="3456432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Добавлены 19 месяцев</a:t>
            </a:r>
            <a:endParaRPr lang="ru-RU" sz="1900"/>
          </a:p>
        </p:txBody>
      </p:sp>
      <p:sp>
        <p:nvSpPr>
          <p:cNvPr id="6" name="Text"/>
          <p:cNvSpPr txBox="1"/>
          <p:nvPr/>
        </p:nvSpPr>
        <p:spPr>
          <a:xfrm>
            <a:off x="8183880" y="1901952"/>
            <a:ext cx="3456432" cy="10789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Конкуренты совместно:</a:t>
            </a:r>
            <a:endParaRPr lang="ru-RU" sz="1800"/>
          </a:p>
          <a:p>
            <a:pPr algn="l"/>
            <a:r>
              <a:rPr lang="ru-RU"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M3: p = 0,011</a:t>
            </a:r>
            <a:endParaRPr lang="ru-RU" sz="1800"/>
          </a:p>
          <a:p>
            <a:pPr algn="l"/>
            <a:r>
              <a:rPr lang="ru-RU"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 месяцами: p = 0,061</a:t>
            </a:r>
            <a:endParaRPr lang="ru-RU" sz="1800"/>
          </a:p>
        </p:txBody>
      </p:sp>
      <p:sp>
        <p:nvSpPr>
          <p:cNvPr id="7" name="Text"/>
          <p:cNvSpPr txBox="1"/>
          <p:nvPr/>
        </p:nvSpPr>
        <p:spPr>
          <a:xfrm>
            <a:off x="8183880" y="3319272"/>
            <a:ext cx="3456432" cy="98755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Вес: p после Холма</a:t>
            </a:r>
            <a:endParaRPr lang="ru-RU" sz="1800"/>
          </a:p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0,049 → 0,116</a:t>
            </a:r>
            <a:endParaRPr lang="ru-RU" sz="1800"/>
          </a:p>
        </p:txBody>
      </p:sp>
      <p:sp>
        <p:nvSpPr>
          <p:cNvPr id="8" name="Text"/>
          <p:cNvSpPr txBox="1"/>
          <p:nvPr/>
        </p:nvSpPr>
        <p:spPr>
          <a:xfrm>
            <a:off x="8183880" y="4581144"/>
            <a:ext cx="3456432" cy="10241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При учёте времени</a:t>
            </a:r>
            <a:endParaRPr lang="ru-RU" sz="1800"/>
          </a:p>
          <a:p>
            <a:pPr algn="l"/>
            <a:r>
              <a:rPr lang="ru-RU" sz="18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вывод на уровне 5%</a:t>
            </a:r>
            <a:endParaRPr lang="ru-RU" sz="1800"/>
          </a:p>
          <a:p>
            <a:pPr algn="l"/>
            <a:r>
              <a:rPr lang="ru-RU" sz="18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не сохраняется.</a:t>
            </a:r>
            <a:endParaRPr lang="ru-RU" sz="1800"/>
          </a:p>
        </p:txBody>
      </p:sp>
      <p:sp>
        <p:nvSpPr>
          <p:cNvPr id="9" name="Text"/>
          <p:cNvSpPr txBox="1"/>
          <p:nvPr/>
        </p:nvSpPr>
        <p:spPr>
          <a:xfrm>
            <a:off x="1417320" y="5888736"/>
            <a:ext cx="10012680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Слева — диапазоны оценок при 52 исключениях товара, не доверительные интервалы.</a:t>
            </a:r>
            <a:endParaRPr lang="ru-RU" sz="1400"/>
          </a:p>
          <a:p>
            <a:pPr algn="l"/>
            <a:r>
              <a:rPr lang="ru-RU" sz="14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Справа — та же выборка с календарными эффектами; это не доказательство отсутствия связи.</a:t>
            </a:r>
            <a:endParaRPr lang="ru-RU" sz="1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6. Качество проверено на товарах вне обучения</a:t>
            </a:r>
            <a:endParaRPr lang="ru-RU" sz="2500"/>
          </a:p>
        </p:txBody>
      </p:sp>
      <p:sp>
        <p:nvSpPr>
          <p:cNvPr id="4" name="Text"/>
          <p:cNvSpPr txBox="1"/>
          <p:nvPr/>
        </p:nvSpPr>
        <p:spPr>
          <a:xfrm>
            <a:off x="1417320" y="886968"/>
            <a:ext cx="10012680" cy="4297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7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5 частей по товарам: ни одна строка проверяемого товара не участвует в обучении.</a:t>
            </a:r>
            <a:endParaRPr lang="ru-RU" sz="1700"/>
          </a:p>
        </p:txBody>
      </p:sp>
      <p:pic>
        <p:nvPicPr>
          <p:cNvPr id="5" name="RMSE: Mean=1,199, M1=1,043, M2=1,030, M3=1,0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872" y="1834604"/>
            <a:ext cx="6903720" cy="3581985"/>
          </a:xfrm>
          <a:prstGeom prst="rect">
            <a:avLst/>
          </a:prstGeom>
        </p:spPr>
      </p:pic>
      <p:sp>
        <p:nvSpPr>
          <p:cNvPr id="6" name="Text"/>
          <p:cNvSpPr txBox="1"/>
          <p:nvPr/>
        </p:nvSpPr>
        <p:spPr>
          <a:xfrm>
            <a:off x="8375904" y="1700784"/>
            <a:ext cx="3246120" cy="43891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С чем сравнивали</a:t>
            </a:r>
            <a:endParaRPr lang="ru-RU" sz="1900"/>
          </a:p>
        </p:txBody>
      </p:sp>
      <p:sp>
        <p:nvSpPr>
          <p:cNvPr id="7" name="Text"/>
          <p:cNvSpPr txBox="1"/>
          <p:nvPr/>
        </p:nvSpPr>
        <p:spPr>
          <a:xfrm>
            <a:off x="8375904" y="2350008"/>
            <a:ext cx="3246120" cy="105156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Простой прогноз среднего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и три регрессии —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на одних и тех же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исключённых товарах.</a:t>
            </a:r>
            <a:endParaRPr lang="ru-RU" sz="1700"/>
          </a:p>
        </p:txBody>
      </p:sp>
      <p:sp>
        <p:nvSpPr>
          <p:cNvPr id="8" name="Text"/>
          <p:cNvSpPr txBox="1"/>
          <p:nvPr/>
        </p:nvSpPr>
        <p:spPr>
          <a:xfrm>
            <a:off x="8375904" y="3776472"/>
            <a:ext cx="324612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Модель с категориями</a:t>
            </a:r>
            <a:endParaRPr lang="ru-RU" sz="1800"/>
          </a:p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имеет RMSE 1,030.</a:t>
            </a:r>
            <a:endParaRPr lang="ru-RU" sz="1800"/>
          </a:p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Расширенная — 1,033:</a:t>
            </a:r>
            <a:endParaRPr lang="ru-RU" sz="1800"/>
          </a:p>
          <a:p>
            <a:pPr algn="l"/>
            <a:r>
              <a:rPr lang="ru-RU"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выигрыша не получено.</a:t>
            </a:r>
            <a:endParaRPr lang="ru-RU" sz="1800"/>
          </a:p>
        </p:txBody>
      </p:sp>
      <p:sp>
        <p:nvSpPr>
          <p:cNvPr id="9" name="Text"/>
          <p:cNvSpPr txBox="1"/>
          <p:nvPr/>
        </p:nvSpPr>
        <p:spPr>
          <a:xfrm>
            <a:off x="1417320" y="5623560"/>
            <a:ext cx="10012680" cy="74066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Рост подгонки не перешёл в улучшение предсказания на выбранном разбиении.</a:t>
            </a:r>
            <a:endParaRPr lang="ru-RU" sz="1600"/>
          </a:p>
          <a:p>
            <a:pPr algn="l"/>
            <a:r>
              <a:rPr lang="ru-RU" sz="16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Ошибки на шкале логарифма. Проверка не относится к будущим месяцам.</a:t>
            </a:r>
            <a:endParaRPr lang="ru-RU"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Итоги: что сделано и что удалось установить</a:t>
            </a:r>
            <a:endParaRPr lang="ru-RU" sz="2500"/>
          </a:p>
        </p:txBody>
      </p:sp>
      <p:sp>
        <p:nvSpPr>
          <p:cNvPr id="4" name="Text"/>
          <p:cNvSpPr txBox="1"/>
          <p:nvPr/>
        </p:nvSpPr>
        <p:spPr>
          <a:xfrm>
            <a:off x="1417320" y="950976"/>
            <a:ext cx="99669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Подготовлена воспроизводимая модель розничных продаж</a:t>
            </a:r>
            <a:endParaRPr lang="ru-RU" sz="1900"/>
          </a:p>
        </p:txBody>
      </p:sp>
      <p:sp>
        <p:nvSpPr>
          <p:cNvPr id="5" name="Text"/>
          <p:cNvSpPr txBox="1"/>
          <p:nvPr/>
        </p:nvSpPr>
        <p:spPr>
          <a:xfrm>
            <a:off x="1417320" y="1399032"/>
            <a:ext cx="996696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Проверены 30 столбцов; сохранены 676 строк.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Сравнены 6 факторов, добавление категории и расширение до 9 факторов.</a:t>
            </a:r>
            <a:endParaRPr lang="ru-RU" sz="1700"/>
          </a:p>
        </p:txBody>
      </p:sp>
      <p:sp>
        <p:nvSpPr>
          <p:cNvPr id="6" name="Text"/>
          <p:cNvSpPr txBox="1"/>
          <p:nvPr/>
        </p:nvSpPr>
        <p:spPr>
          <a:xfrm>
            <a:off x="1417320" y="2432304"/>
            <a:ext cx="99669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Связь конкурентных цен чувствительна к учёту времени</a:t>
            </a:r>
            <a:endParaRPr lang="ru-RU" sz="1900"/>
          </a:p>
        </p:txBody>
      </p:sp>
      <p:sp>
        <p:nvSpPr>
          <p:cNvPr id="7" name="Text"/>
          <p:cNvSpPr txBox="1"/>
          <p:nvPr/>
        </p:nvSpPr>
        <p:spPr>
          <a:xfrm>
            <a:off x="1417320" y="2880360"/>
            <a:ext cx="996696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Основная M3: p = 0,011; с 19 месяцами: p = 0,061.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Совместная значимость на уровне 5% не сохраняется в календарном расширении.</a:t>
            </a:r>
            <a:endParaRPr lang="ru-RU" sz="1700"/>
          </a:p>
        </p:txBody>
      </p:sp>
      <p:sp>
        <p:nvSpPr>
          <p:cNvPr id="8" name="Text"/>
          <p:cNvSpPr txBox="1"/>
          <p:nvPr/>
        </p:nvSpPr>
        <p:spPr>
          <a:xfrm>
            <a:off x="1417320" y="3913632"/>
            <a:ext cx="99669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Дополнительные признаки не улучшили предсказание</a:t>
            </a:r>
            <a:endParaRPr lang="ru-RU" sz="1900"/>
          </a:p>
        </p:txBody>
      </p:sp>
      <p:sp>
        <p:nvSpPr>
          <p:cNvPr id="9" name="Text"/>
          <p:cNvSpPr txBox="1"/>
          <p:nvPr/>
        </p:nvSpPr>
        <p:spPr>
          <a:xfrm>
            <a:off x="1417320" y="4361688"/>
            <a:ext cx="996696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С рейтингом, объёмом и доставкой RMSE 1,033 против 1,030 без них.</a:t>
            </a:r>
            <a:endParaRPr lang="ru-RU" sz="1700"/>
          </a:p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На выбранном разбиении расширение модели себя не оправдало.</a:t>
            </a:r>
            <a:endParaRPr lang="ru-RU" sz="1700"/>
          </a:p>
        </p:txBody>
      </p:sp>
      <p:sp>
        <p:nvSpPr>
          <p:cNvPr id="10" name="Text"/>
          <p:cNvSpPr txBox="1"/>
          <p:nvPr/>
        </p:nvSpPr>
        <p:spPr>
          <a:xfrm>
            <a:off x="1417320" y="5541264"/>
            <a:ext cx="10012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4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Ограничения: 52 товара; возможны общие ошибки категории и месяца. Выводы — о связях.</a:t>
            </a:r>
            <a:endParaRPr lang="ru-RU" sz="1400"/>
          </a:p>
        </p:txBody>
      </p:sp>
      <p:sp>
        <p:nvSpPr>
          <p:cNvPr id="11" name="Text"/>
          <p:cNvSpPr txBox="1"/>
          <p:nvPr/>
        </p:nvSpPr>
        <p:spPr>
          <a:xfrm>
            <a:off x="1417320" y="6208776"/>
            <a:ext cx="10012680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r"/>
            <a:r>
              <a:rPr lang="ru-RU" sz="18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Спасибо за внимание!</a:t>
            </a:r>
            <a:endParaRPr lang="ru-RU"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Резерв: как проверяются коэффициенты</a:t>
            </a:r>
            <a:endParaRPr lang="ru-RU" sz="2500"/>
          </a:p>
        </p:txBody>
      </p:sp>
      <p:sp>
        <p:nvSpPr>
          <p:cNvPr id="4" name="Text"/>
          <p:cNvSpPr txBox="1"/>
          <p:nvPr/>
        </p:nvSpPr>
        <p:spPr>
          <a:xfrm>
            <a:off x="1417320" y="941832"/>
            <a:ext cx="99669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Шкалы числовых факторов</a:t>
            </a:r>
            <a:endParaRPr lang="ru-RU" sz="1900"/>
          </a:p>
        </p:txBody>
      </p:sp>
      <p:sp>
        <p:nvSpPr>
          <p:cNvPr id="5" name="Text"/>
          <p:cNvSpPr txBox="1"/>
          <p:nvPr/>
        </p:nvSpPr>
        <p:spPr>
          <a:xfrm>
            <a:off x="1417320" y="1389888"/>
            <a:ext cx="996696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Логарифмы: покупатели, 3 цены, вес, объём. В уровнях: фото, рейтинг, доставка.</a:t>
            </a:r>
            <a:endParaRPr lang="ru-RU" sz="1700"/>
          </a:p>
        </p:txBody>
      </p:sp>
      <p:sp>
        <p:nvSpPr>
          <p:cNvPr id="6" name="Text"/>
          <p:cNvSpPr txBox="1"/>
          <p:nvPr/>
        </p:nvSpPr>
        <p:spPr>
          <a:xfrm>
            <a:off x="1417320" y="2194560"/>
            <a:ext cx="99669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Индивидуальная проверка</a:t>
            </a:r>
            <a:endParaRPr lang="ru-RU" sz="1900"/>
          </a:p>
        </p:txBody>
      </p:sp>
      <p:sp>
        <p:nvSpPr>
          <p:cNvPr id="7" name="Text"/>
          <p:cNvSpPr txBox="1"/>
          <p:nvPr/>
        </p:nvSpPr>
        <p:spPr>
          <a:xfrm>
            <a:off x="1417320" y="2642616"/>
            <a:ext cx="996696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t = b / SEcluster; b — оценка коэффициента, SEcluster — её кластерная ошибка.</a:t>
            </a:r>
            <a:endParaRPr lang="ru-RU" sz="1700"/>
          </a:p>
        </p:txBody>
      </p:sp>
      <p:sp>
        <p:nvSpPr>
          <p:cNvPr id="8" name="Text"/>
          <p:cNvSpPr txBox="1"/>
          <p:nvPr/>
        </p:nvSpPr>
        <p:spPr>
          <a:xfrm>
            <a:off x="1417320" y="3447288"/>
            <a:ext cx="99669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Почему поправка Холма?</a:t>
            </a:r>
            <a:endParaRPr lang="ru-RU" sz="1900"/>
          </a:p>
        </p:txBody>
      </p:sp>
      <p:sp>
        <p:nvSpPr>
          <p:cNvPr id="9" name="Text"/>
          <p:cNvSpPr txBox="1"/>
          <p:nvPr/>
        </p:nvSpPr>
        <p:spPr>
          <a:xfrm>
            <a:off x="1417320" y="3895344"/>
            <a:ext cx="996696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9 индивидуальных проверок. Поправка учитывает риск хотя бы одного ложного отклонения.</a:t>
            </a:r>
            <a:endParaRPr lang="ru-RU" sz="1700"/>
          </a:p>
        </p:txBody>
      </p:sp>
      <p:sp>
        <p:nvSpPr>
          <p:cNvPr id="10" name="Text"/>
          <p:cNvSpPr txBox="1"/>
          <p:nvPr/>
        </p:nvSpPr>
        <p:spPr>
          <a:xfrm>
            <a:off x="1417320" y="4700016"/>
            <a:ext cx="99669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900" b="1">
                <a:solidFill>
                  <a:srgbClr val="1E6DA8"/>
                </a:solidFill>
                <a:latin typeface="Arial"/>
                <a:ea typeface="Arial"/>
                <a:cs typeface="Arial"/>
              </a:rPr>
              <a:t xml:space="preserve">Что проверяет совместный F-критерий?</a:t>
            </a:r>
            <a:endParaRPr lang="ru-RU" sz="1900"/>
          </a:p>
        </p:txBody>
      </p:sp>
      <p:sp>
        <p:nvSpPr>
          <p:cNvPr id="11" name="Text"/>
          <p:cNvSpPr txBox="1"/>
          <p:nvPr/>
        </p:nvSpPr>
        <p:spPr>
          <a:xfrm>
            <a:off x="1417320" y="5148072"/>
            <a:ext cx="996696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17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Гипотезу о трёх одновременно нулевых коэффициентах, а не каждого отдельно.</a:t>
            </a:r>
            <a:endParaRPr lang="ru-RU"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ue sideb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" y="0"/>
            <a:ext cx="1105081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1188720" y="2743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>
            <a:noAutofit/>
          </a:bodyPr>
          <a:lstStyle/>
          <a:p>
            <a:pPr algn="l"/>
            <a:r>
              <a:rPr lang="ru-RU" sz="2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Резерв: диагностика и ограничения</a:t>
            </a:r>
            <a:endParaRPr lang="ru-RU" sz="2500"/>
          </a:p>
        </p:txBody>
      </p:sp>
      <p:pic>
        <p:nvPicPr>
          <p:cNvPr id="4" name="Residual diagnostic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146162"/>
            <a:ext cx="10287000" cy="2947188"/>
          </a:xfrm>
          <a:prstGeom prst="rect">
            <a:avLst/>
          </a:prstGeom>
        </p:spPr>
      </p:pic>
      <p:sp>
        <p:nvSpPr>
          <p:cNvPr id="5" name="Text"/>
          <p:cNvSpPr txBox="1"/>
          <p:nvPr/>
        </p:nvSpPr>
        <p:spPr>
          <a:xfrm>
            <a:off x="1417320" y="4443984"/>
            <a:ext cx="10012680" cy="63093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VIF первого конкурента = 7,16: разделение индивидуальных связей затруднено.</a:t>
            </a:r>
            <a:endParaRPr lang="ru-RU" sz="1650"/>
          </a:p>
          <a:p>
            <a:pPr algn="l"/>
            <a:r>
              <a:rPr lang="ru-RU"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 xml:space="preserve">Квадрат логарифма покупателей: p = 0,202; конкретная кривизна не подтверждена.</a:t>
            </a:r>
            <a:endParaRPr lang="ru-RU" sz="1650"/>
          </a:p>
        </p:txBody>
      </p:sp>
      <p:sp>
        <p:nvSpPr>
          <p:cNvPr id="6" name="Text"/>
          <p:cNvSpPr txBox="1"/>
          <p:nvPr/>
        </p:nvSpPr>
        <p:spPr>
          <a:xfrm>
            <a:off x="1417320" y="5440680"/>
            <a:ext cx="10012680" cy="83210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54864" bIns="54864">
            <a:noAutofit/>
          </a:bodyPr>
          <a:lstStyle/>
          <a:p>
            <a:pPr algn="l"/>
            <a:r>
              <a:rPr lang="ru-RU" sz="16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Кластеризация по товару не покрывает все общие ошибки разных товаров.</a:t>
            </a:r>
            <a:endParaRPr lang="ru-RU" sz="1600"/>
          </a:p>
          <a:p>
            <a:pPr algn="l"/>
            <a:r>
              <a:rPr lang="ru-RU" sz="16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 xml:space="preserve">Остатки асимметричны; причинность, оптимальные цены и будущий прогноз не установлены.</a:t>
            </a:r>
            <a:endParaRPr lang="ru-RU"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ursework">
  <a:themeElements>
    <a:clrScheme name="Coursework">
      <a:dk1>
        <a:srgbClr val="17324D"/>
      </a:dk1>
      <a:lt1>
        <a:srgbClr val="FFFFFF"/>
      </a:lt1>
      <a:dk2>
        <a:srgbClr val="1E2933"/>
      </a:dk2>
      <a:lt2>
        <a:srgbClr val="F3F7FA"/>
      </a:lt2>
      <a:accent1>
        <a:srgbClr val="2F8F83"/>
      </a:accent1>
      <a:accent2>
        <a:srgbClr val="E7B85B"/>
      </a:accent2>
      <a:accent3>
        <a:srgbClr val="B65050"/>
      </a:accent3>
      <a:accent4>
        <a:srgbClr val="526575"/>
      </a:accent4>
      <a:accent5>
        <a:srgbClr val="D8E5EB"/>
      </a:accent5>
      <a:accent6>
        <a:srgbClr val="8BB7AD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oursewor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